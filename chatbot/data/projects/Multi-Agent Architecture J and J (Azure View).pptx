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57" r:id="rId4"/>
    <p:sldId id="258" r:id="rId5"/>
    <p:sldId id="259" r:id="rId6"/>
    <p:sldId id="260" r:id="rId7"/>
    <p:sldId id="261" r:id="rId8"/>
    <p:sldId id="263" r:id="rId9"/>
    <p:sldId id="262" r:id="rId10"/>
    <p:sldId id="264" r:id="rId11"/>
    <p:sldId id="268" r:id="rId12"/>
    <p:sldId id="267" r:id="rId13"/>
    <p:sldId id="271" r:id="rId14"/>
    <p:sldId id="272" r:id="rId15"/>
    <p:sldId id="275" r:id="rId16"/>
    <p:sldId id="274" r:id="rId17"/>
    <p:sldId id="273" r:id="rId18"/>
    <p:sldId id="265" r:id="rId19"/>
    <p:sldId id="270"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wald Durand" userId="39faa07c9fae8361" providerId="LiveId" clId="{5024B1B4-60D8-447A-B89A-E07C877439EB}"/>
    <pc:docChg chg="undo custSel addSld modSld">
      <pc:chgData name="Oswald Durand" userId="39faa07c9fae8361" providerId="LiveId" clId="{5024B1B4-60D8-447A-B89A-E07C877439EB}" dt="2026-05-19T00:47:51.300" v="79" actId="26606"/>
      <pc:docMkLst>
        <pc:docMk/>
      </pc:docMkLst>
      <pc:sldChg chg="modSp mod">
        <pc:chgData name="Oswald Durand" userId="39faa07c9fae8361" providerId="LiveId" clId="{5024B1B4-60D8-447A-B89A-E07C877439EB}" dt="2026-05-19T00:47:28.136" v="78" actId="20577"/>
        <pc:sldMkLst>
          <pc:docMk/>
          <pc:sldMk cId="386975982" sldId="267"/>
        </pc:sldMkLst>
        <pc:spChg chg="mod">
          <ac:chgData name="Oswald Durand" userId="39faa07c9fae8361" providerId="LiveId" clId="{5024B1B4-60D8-447A-B89A-E07C877439EB}" dt="2026-05-19T00:46:16.922" v="71" actId="14100"/>
          <ac:spMkLst>
            <pc:docMk/>
            <pc:sldMk cId="386975982" sldId="267"/>
            <ac:spMk id="2" creationId="{B8C98AE1-1B3C-3198-2B5E-BF7C96E179A2}"/>
          </ac:spMkLst>
        </pc:spChg>
        <pc:spChg chg="mod">
          <ac:chgData name="Oswald Durand" userId="39faa07c9fae8361" providerId="LiveId" clId="{5024B1B4-60D8-447A-B89A-E07C877439EB}" dt="2026-05-19T00:47:28.136" v="78" actId="20577"/>
          <ac:spMkLst>
            <pc:docMk/>
            <pc:sldMk cId="386975982" sldId="267"/>
            <ac:spMk id="3" creationId="{56CA63AB-9F8C-F164-249A-1B2B2A78B80D}"/>
          </ac:spMkLst>
        </pc:spChg>
      </pc:sldChg>
      <pc:sldChg chg="addSp modSp mod setBg">
        <pc:chgData name="Oswald Durand" userId="39faa07c9fae8361" providerId="LiveId" clId="{5024B1B4-60D8-447A-B89A-E07C877439EB}" dt="2026-05-19T00:47:51.300" v="79" actId="26606"/>
        <pc:sldMkLst>
          <pc:docMk/>
          <pc:sldMk cId="537322227" sldId="272"/>
        </pc:sldMkLst>
        <pc:spChg chg="mod">
          <ac:chgData name="Oswald Durand" userId="39faa07c9fae8361" providerId="LiveId" clId="{5024B1B4-60D8-447A-B89A-E07C877439EB}" dt="2026-05-19T00:47:51.300" v="79" actId="26606"/>
          <ac:spMkLst>
            <pc:docMk/>
            <pc:sldMk cId="537322227" sldId="272"/>
            <ac:spMk id="2" creationId="{A7180F1D-C557-3E0D-E472-221C4B17C929}"/>
          </ac:spMkLst>
        </pc:spChg>
        <pc:spChg chg="mod">
          <ac:chgData name="Oswald Durand" userId="39faa07c9fae8361" providerId="LiveId" clId="{5024B1B4-60D8-447A-B89A-E07C877439EB}" dt="2026-05-19T00:47:51.300" v="79" actId="26606"/>
          <ac:spMkLst>
            <pc:docMk/>
            <pc:sldMk cId="537322227" sldId="272"/>
            <ac:spMk id="4" creationId="{A7ED917B-BE27-0331-5C74-BE8EDCA6A6CB}"/>
          </ac:spMkLst>
        </pc:spChg>
        <pc:spChg chg="add">
          <ac:chgData name="Oswald Durand" userId="39faa07c9fae8361" providerId="LiveId" clId="{5024B1B4-60D8-447A-B89A-E07C877439EB}" dt="2026-05-19T00:47:51.300" v="79" actId="26606"/>
          <ac:spMkLst>
            <pc:docMk/>
            <pc:sldMk cId="537322227" sldId="272"/>
            <ac:spMk id="11" creationId="{6ACA6F80-D392-A64E-3CF8-F28F1CCEE67B}"/>
          </ac:spMkLst>
        </pc:spChg>
        <pc:picChg chg="add">
          <ac:chgData name="Oswald Durand" userId="39faa07c9fae8361" providerId="LiveId" clId="{5024B1B4-60D8-447A-B89A-E07C877439EB}" dt="2026-05-19T00:47:51.300" v="79" actId="26606"/>
          <ac:picMkLst>
            <pc:docMk/>
            <pc:sldMk cId="537322227" sldId="272"/>
            <ac:picMk id="8" creationId="{1BE527E1-C3C7-1771-77DB-C0D53D6BF3E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5/18/2026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44529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5/18/2026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95468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5/18/2026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5583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5/18/2026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6698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5/18/2026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9768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5/18/2026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9250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5/18/2026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2623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5/18/2026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2814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5/18/2026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0595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5/18/2026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80432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5/18/2026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425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5/18/2026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08748048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nnected sticks shaping polygons background">
            <a:extLst>
              <a:ext uri="{FF2B5EF4-FFF2-40B4-BE49-F238E27FC236}">
                <a16:creationId xmlns:a16="http://schemas.microsoft.com/office/drawing/2014/main" id="{7F19FACF-25FC-515E-840D-DA23709A8F41}"/>
              </a:ext>
            </a:extLst>
          </p:cNvPr>
          <p:cNvPicPr>
            <a:picLocks noChangeAspect="1"/>
          </p:cNvPicPr>
          <p:nvPr/>
        </p:nvPicPr>
        <p:blipFill>
          <a:blip r:embed="rId2"/>
          <a:srcRect t="14004" r="9091" b="9387"/>
          <a:stretch>
            <a:fillRect/>
          </a:stretch>
        </p:blipFill>
        <p:spPr>
          <a:xfrm>
            <a:off x="20" y="-1"/>
            <a:ext cx="12191980" cy="6858001"/>
          </a:xfrm>
          <a:prstGeom prst="rect">
            <a:avLst/>
          </a:prstGeom>
        </p:spPr>
      </p:pic>
      <p:sp>
        <p:nvSpPr>
          <p:cNvPr id="23" name="Rectangle 22">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918A7C-1CAF-F203-9D07-7EC69677F4B0}"/>
              </a:ext>
            </a:extLst>
          </p:cNvPr>
          <p:cNvSpPr>
            <a:spLocks noGrp="1"/>
          </p:cNvSpPr>
          <p:nvPr>
            <p:ph type="ctrTitle"/>
          </p:nvPr>
        </p:nvSpPr>
        <p:spPr>
          <a:xfrm>
            <a:off x="626918" y="3429000"/>
            <a:ext cx="4506064" cy="1888742"/>
          </a:xfrm>
        </p:spPr>
        <p:txBody>
          <a:bodyPr>
            <a:normAutofit/>
          </a:bodyPr>
          <a:lstStyle/>
          <a:p>
            <a:pPr algn="l"/>
            <a:r>
              <a:rPr lang="en-US" sz="3100">
                <a:solidFill>
                  <a:srgbClr val="FFFFFF"/>
                </a:solidFill>
              </a:rPr>
              <a:t>Multi-Agent Architecture</a:t>
            </a:r>
            <a:br>
              <a:rPr lang="en-US" sz="3100">
                <a:solidFill>
                  <a:srgbClr val="FFFFFF"/>
                </a:solidFill>
              </a:rPr>
            </a:br>
            <a:r>
              <a:rPr lang="en-US" sz="3100">
                <a:solidFill>
                  <a:srgbClr val="FFFFFF"/>
                </a:solidFill>
              </a:rPr>
              <a:t>Johnson &amp; Johnson</a:t>
            </a:r>
            <a:br>
              <a:rPr lang="en-US" sz="3100">
                <a:solidFill>
                  <a:srgbClr val="FFFFFF"/>
                </a:solidFill>
              </a:rPr>
            </a:br>
            <a:endParaRPr lang="en-US" sz="3100">
              <a:solidFill>
                <a:srgbClr val="FFFFFF"/>
              </a:solidFill>
            </a:endParaRPr>
          </a:p>
        </p:txBody>
      </p:sp>
    </p:spTree>
    <p:extLst>
      <p:ext uri="{BB962C8B-B14F-4D97-AF65-F5344CB8AC3E}">
        <p14:creationId xmlns:p14="http://schemas.microsoft.com/office/powerpoint/2010/main" val="236754259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80D3096-E106-FD85-BFC6-72357402FF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E65D7ED-653E-F8EB-45EE-7E6621E632C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682" b="-1"/>
          <a:stretch>
            <a:fillRect/>
          </a:stretch>
        </p:blipFill>
        <p:spPr>
          <a:xfrm>
            <a:off x="3757664" y="361322"/>
            <a:ext cx="11353802" cy="6033902"/>
          </a:xfrm>
          <a:prstGeom prst="rect">
            <a:avLst/>
          </a:prstGeom>
        </p:spPr>
      </p:pic>
    </p:spTree>
    <p:extLst>
      <p:ext uri="{BB962C8B-B14F-4D97-AF65-F5344CB8AC3E}">
        <p14:creationId xmlns:p14="http://schemas.microsoft.com/office/powerpoint/2010/main" val="433114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F79A5-3C20-9FAA-3B3D-DAD5597282CC}"/>
              </a:ext>
            </a:extLst>
          </p:cNvPr>
          <p:cNvSpPr>
            <a:spLocks noGrp="1"/>
          </p:cNvSpPr>
          <p:nvPr>
            <p:ph type="title"/>
          </p:nvPr>
        </p:nvSpPr>
        <p:spPr>
          <a:xfrm>
            <a:off x="5568534" y="603504"/>
            <a:ext cx="5916169" cy="1527048"/>
          </a:xfrm>
        </p:spPr>
        <p:txBody>
          <a:bodyPr anchor="b">
            <a:normAutofit/>
          </a:bodyPr>
          <a:lstStyle/>
          <a:p>
            <a:r>
              <a:rPr lang="en-US" dirty="0"/>
              <a:t>Azure Front Door + WAF</a:t>
            </a:r>
          </a:p>
        </p:txBody>
      </p:sp>
      <p:pic>
        <p:nvPicPr>
          <p:cNvPr id="5" name="Picture 4" descr="Light from open door">
            <a:extLst>
              <a:ext uri="{FF2B5EF4-FFF2-40B4-BE49-F238E27FC236}">
                <a16:creationId xmlns:a16="http://schemas.microsoft.com/office/drawing/2014/main" id="{3DF66A74-AEF9-4340-44FE-42154A10C473}"/>
              </a:ext>
            </a:extLst>
          </p:cNvPr>
          <p:cNvPicPr>
            <a:picLocks noChangeAspect="1"/>
          </p:cNvPicPr>
          <p:nvPr/>
        </p:nvPicPr>
        <p:blipFill>
          <a:blip r:embed="rId2"/>
          <a:srcRect l="47266" r="10489" b="-1"/>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8183AF3C-AA1D-5079-4AE4-FA96EE16DBA5}"/>
              </a:ext>
            </a:extLst>
          </p:cNvPr>
          <p:cNvSpPr>
            <a:spLocks noGrp="1"/>
          </p:cNvSpPr>
          <p:nvPr>
            <p:ph idx="1"/>
          </p:nvPr>
        </p:nvSpPr>
        <p:spPr>
          <a:xfrm>
            <a:off x="5568533" y="2214282"/>
            <a:ext cx="5916169" cy="4095078"/>
          </a:xfrm>
        </p:spPr>
        <p:txBody>
          <a:bodyPr>
            <a:normAutofit/>
          </a:bodyPr>
          <a:lstStyle/>
          <a:p>
            <a:r>
              <a:rPr lang="en-US" sz="1800" dirty="0"/>
              <a:t>Azure Front Door provides global routing and acceleration, while WAF enforces application-layer security before any request reaches our AI services.”</a:t>
            </a:r>
          </a:p>
          <a:p>
            <a:r>
              <a:rPr lang="en-US" sz="1800" dirty="0"/>
              <a:t>What it actually does:</a:t>
            </a:r>
          </a:p>
          <a:p>
            <a:r>
              <a:rPr lang="en-US" sz="1800" dirty="0"/>
              <a:t>Routes users to the </a:t>
            </a:r>
            <a:r>
              <a:rPr lang="en-US" sz="1800" b="1" dirty="0"/>
              <a:t>closest and healthiest region</a:t>
            </a:r>
            <a:endParaRPr lang="en-US" sz="1800" dirty="0"/>
          </a:p>
          <a:p>
            <a:r>
              <a:rPr lang="en-US" sz="1800" dirty="0"/>
              <a:t>Terminates TLS (SSL) once, cleanly</a:t>
            </a:r>
          </a:p>
          <a:p>
            <a:r>
              <a:rPr lang="en-US" sz="1800" dirty="0"/>
              <a:t>Provides </a:t>
            </a:r>
            <a:r>
              <a:rPr lang="en-US" sz="1800" b="1" dirty="0"/>
              <a:t>global load balancing</a:t>
            </a:r>
            <a:endParaRPr lang="en-US" sz="1800" dirty="0"/>
          </a:p>
          <a:p>
            <a:r>
              <a:rPr lang="en-US" sz="1800" dirty="0"/>
              <a:t>Accelerates responses via Microsoft’s edge network</a:t>
            </a:r>
          </a:p>
          <a:p>
            <a:endParaRPr lang="en-US" sz="1800" dirty="0"/>
          </a:p>
        </p:txBody>
      </p:sp>
    </p:spTree>
    <p:extLst>
      <p:ext uri="{BB962C8B-B14F-4D97-AF65-F5344CB8AC3E}">
        <p14:creationId xmlns:p14="http://schemas.microsoft.com/office/powerpoint/2010/main" val="11231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DE6AC0B-42A9-CA09-B72A-CB5CF827A6A2}"/>
              </a:ext>
            </a:extLst>
          </p:cNvPr>
          <p:cNvSpPr>
            <a:spLocks noGrp="1"/>
          </p:cNvSpPr>
          <p:nvPr>
            <p:ph type="title"/>
          </p:nvPr>
        </p:nvSpPr>
        <p:spPr>
          <a:xfrm>
            <a:off x="614679" y="548639"/>
            <a:ext cx="3977640" cy="5719640"/>
          </a:xfrm>
        </p:spPr>
        <p:txBody>
          <a:bodyPr anchor="t">
            <a:normAutofit/>
          </a:bodyPr>
          <a:lstStyle/>
          <a:p>
            <a:r>
              <a:rPr lang="en-US" dirty="0"/>
              <a:t>Azure API Management</a:t>
            </a:r>
          </a:p>
        </p:txBody>
      </p:sp>
      <p:sp>
        <p:nvSpPr>
          <p:cNvPr id="3" name="Content Placeholder 2">
            <a:extLst>
              <a:ext uri="{FF2B5EF4-FFF2-40B4-BE49-F238E27FC236}">
                <a16:creationId xmlns:a16="http://schemas.microsoft.com/office/drawing/2014/main" id="{747792AE-5536-437C-6C16-C8593FA3E429}"/>
              </a:ext>
            </a:extLst>
          </p:cNvPr>
          <p:cNvSpPr>
            <a:spLocks noGrp="1"/>
          </p:cNvSpPr>
          <p:nvPr>
            <p:ph idx="1"/>
          </p:nvPr>
        </p:nvSpPr>
        <p:spPr>
          <a:xfrm>
            <a:off x="5387542" y="548639"/>
            <a:ext cx="6189780" cy="5861304"/>
          </a:xfrm>
        </p:spPr>
        <p:txBody>
          <a:bodyPr anchor="t">
            <a:normAutofit/>
          </a:bodyPr>
          <a:lstStyle/>
          <a:p>
            <a:pPr>
              <a:lnSpc>
                <a:spcPct val="110000"/>
              </a:lnSpc>
            </a:pPr>
            <a:r>
              <a:rPr lang="en-US" sz="1400" b="1"/>
              <a:t>Azure API Management (APIM)</a:t>
            </a:r>
            <a:r>
              <a:rPr lang="en-US" sz="1400"/>
              <a:t> is the </a:t>
            </a:r>
            <a:r>
              <a:rPr lang="en-US" sz="1400" b="1"/>
              <a:t>front desk and rulebook</a:t>
            </a:r>
            <a:r>
              <a:rPr lang="en-US" sz="1400"/>
              <a:t> for your APIs.</a:t>
            </a:r>
          </a:p>
          <a:p>
            <a:pPr>
              <a:lnSpc>
                <a:spcPct val="110000"/>
              </a:lnSpc>
            </a:pPr>
            <a:r>
              <a:rPr lang="en-US" sz="1400"/>
              <a:t>What it does:</a:t>
            </a:r>
          </a:p>
          <a:p>
            <a:pPr>
              <a:lnSpc>
                <a:spcPct val="110000"/>
              </a:lnSpc>
            </a:pPr>
            <a:r>
              <a:rPr lang="en-US" sz="1400"/>
              <a:t>Exposes your backend APIs through </a:t>
            </a:r>
            <a:r>
              <a:rPr lang="en-US" sz="1400" b="1"/>
              <a:t>one controlled gateway</a:t>
            </a:r>
            <a:endParaRPr lang="en-US" sz="1400"/>
          </a:p>
          <a:p>
            <a:pPr>
              <a:lnSpc>
                <a:spcPct val="110000"/>
              </a:lnSpc>
            </a:pPr>
            <a:r>
              <a:rPr lang="en-US" sz="1400"/>
              <a:t>Enforces </a:t>
            </a:r>
            <a:r>
              <a:rPr lang="en-US" sz="1400" b="1"/>
              <a:t>authentication &amp; authorization</a:t>
            </a:r>
            <a:r>
              <a:rPr lang="en-US" sz="1400"/>
              <a:t> (OAuth, JWT, keys)</a:t>
            </a:r>
          </a:p>
          <a:p>
            <a:pPr>
              <a:lnSpc>
                <a:spcPct val="110000"/>
              </a:lnSpc>
            </a:pPr>
            <a:r>
              <a:rPr lang="en-US" sz="1400"/>
              <a:t>Applies </a:t>
            </a:r>
            <a:r>
              <a:rPr lang="en-US" sz="1400" b="1"/>
              <a:t>rate limits, quotas, and throttling</a:t>
            </a:r>
            <a:endParaRPr lang="en-US" sz="1400"/>
          </a:p>
          <a:p>
            <a:pPr>
              <a:lnSpc>
                <a:spcPct val="110000"/>
              </a:lnSpc>
            </a:pPr>
            <a:r>
              <a:rPr lang="en-US" sz="1400"/>
              <a:t>Validates requests and responses</a:t>
            </a:r>
          </a:p>
          <a:p>
            <a:pPr>
              <a:lnSpc>
                <a:spcPct val="110000"/>
              </a:lnSpc>
            </a:pPr>
            <a:r>
              <a:rPr lang="en-US" sz="1400"/>
              <a:t>Logs and monitors API usage</a:t>
            </a:r>
          </a:p>
          <a:p>
            <a:pPr>
              <a:lnSpc>
                <a:spcPct val="110000"/>
              </a:lnSpc>
            </a:pPr>
            <a:r>
              <a:rPr lang="en-US" sz="1400"/>
              <a:t>Why it matters in your AI architecture:</a:t>
            </a:r>
          </a:p>
          <a:p>
            <a:pPr>
              <a:lnSpc>
                <a:spcPct val="110000"/>
              </a:lnSpc>
            </a:pPr>
            <a:r>
              <a:rPr lang="en-US" sz="1400"/>
              <a:t>Protects your </a:t>
            </a:r>
            <a:r>
              <a:rPr lang="en-US" sz="1400" b="1"/>
              <a:t>LLM and agent endpoints</a:t>
            </a:r>
            <a:r>
              <a:rPr lang="en-US" sz="1400"/>
              <a:t> from abuse</a:t>
            </a:r>
          </a:p>
          <a:p>
            <a:pPr>
              <a:lnSpc>
                <a:spcPct val="110000"/>
              </a:lnSpc>
            </a:pPr>
            <a:r>
              <a:rPr lang="en-US" sz="1400"/>
              <a:t>Prevents one user from </a:t>
            </a:r>
            <a:r>
              <a:rPr lang="en-US" sz="1400" err="1"/>
              <a:t>DDoS’ing</a:t>
            </a:r>
            <a:r>
              <a:rPr lang="en-US" sz="1400"/>
              <a:t> your token budget</a:t>
            </a:r>
          </a:p>
          <a:p>
            <a:pPr>
              <a:lnSpc>
                <a:spcPct val="110000"/>
              </a:lnSpc>
            </a:pPr>
            <a:r>
              <a:rPr lang="en-US" sz="1400"/>
              <a:t>Lets you change backend services </a:t>
            </a:r>
            <a:r>
              <a:rPr lang="en-US" sz="1400" b="1"/>
              <a:t>without breaking clients</a:t>
            </a:r>
            <a:endParaRPr lang="en-US" sz="1400"/>
          </a:p>
          <a:p>
            <a:pPr>
              <a:lnSpc>
                <a:spcPct val="110000"/>
              </a:lnSpc>
            </a:pPr>
            <a:r>
              <a:rPr lang="en-US" sz="1400"/>
              <a:t>One-liner you can reuse:</a:t>
            </a:r>
          </a:p>
          <a:p>
            <a:pPr>
              <a:lnSpc>
                <a:spcPct val="110000"/>
              </a:lnSpc>
            </a:pPr>
            <a:r>
              <a:rPr lang="en-US" sz="1400"/>
              <a:t>“Azure API Management acts as a secure, policy-driven gateway that controls access, throttling, and governance for all AI-facing APIs before they reach AKS.”</a:t>
            </a:r>
          </a:p>
          <a:p>
            <a:pPr>
              <a:lnSpc>
                <a:spcPct val="110000"/>
              </a:lnSpc>
            </a:pPr>
            <a:endParaRPr lang="en-US" sz="1400"/>
          </a:p>
        </p:txBody>
      </p:sp>
    </p:spTree>
    <p:extLst>
      <p:ext uri="{BB962C8B-B14F-4D97-AF65-F5344CB8AC3E}">
        <p14:creationId xmlns:p14="http://schemas.microsoft.com/office/powerpoint/2010/main" val="2036477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79C88-8612-3176-381A-03B9F3CDBA57}"/>
              </a:ext>
            </a:extLst>
          </p:cNvPr>
          <p:cNvSpPr>
            <a:spLocks noGrp="1"/>
          </p:cNvSpPr>
          <p:nvPr>
            <p:ph type="title"/>
          </p:nvPr>
        </p:nvSpPr>
        <p:spPr>
          <a:xfrm>
            <a:off x="612648" y="600074"/>
            <a:ext cx="6035040" cy="1529932"/>
          </a:xfrm>
        </p:spPr>
        <p:txBody>
          <a:bodyPr anchor="b">
            <a:normAutofit/>
          </a:bodyPr>
          <a:lstStyle/>
          <a:p>
            <a:r>
              <a:rPr lang="en-US" dirty="0"/>
              <a:t>AKS Ingress</a:t>
            </a:r>
          </a:p>
        </p:txBody>
      </p:sp>
      <p:sp>
        <p:nvSpPr>
          <p:cNvPr id="3" name="Content Placeholder 2">
            <a:extLst>
              <a:ext uri="{FF2B5EF4-FFF2-40B4-BE49-F238E27FC236}">
                <a16:creationId xmlns:a16="http://schemas.microsoft.com/office/drawing/2014/main" id="{AB88F03B-6225-0FB8-9214-A2CEEE8F3C6E}"/>
              </a:ext>
            </a:extLst>
          </p:cNvPr>
          <p:cNvSpPr>
            <a:spLocks noGrp="1"/>
          </p:cNvSpPr>
          <p:nvPr>
            <p:ph idx="1"/>
          </p:nvPr>
        </p:nvSpPr>
        <p:spPr>
          <a:xfrm>
            <a:off x="612647" y="2212848"/>
            <a:ext cx="6035041" cy="4096512"/>
          </a:xfrm>
        </p:spPr>
        <p:txBody>
          <a:bodyPr>
            <a:normAutofit/>
          </a:bodyPr>
          <a:lstStyle/>
          <a:p>
            <a:pPr>
              <a:lnSpc>
                <a:spcPct val="110000"/>
              </a:lnSpc>
            </a:pPr>
            <a:r>
              <a:rPr lang="en-US" sz="1000" b="1"/>
              <a:t>AKS Ingress</a:t>
            </a:r>
            <a:r>
              <a:rPr lang="en-US" sz="1000"/>
              <a:t> is the </a:t>
            </a:r>
            <a:r>
              <a:rPr lang="en-US" sz="1000" b="1"/>
              <a:t>traffic router inside your Kubernetes cluster</a:t>
            </a:r>
            <a:r>
              <a:rPr lang="en-US" sz="1000"/>
              <a:t>.</a:t>
            </a:r>
          </a:p>
          <a:p>
            <a:pPr>
              <a:lnSpc>
                <a:spcPct val="110000"/>
              </a:lnSpc>
            </a:pPr>
            <a:r>
              <a:rPr lang="en-US" sz="1000"/>
              <a:t>What it does:</a:t>
            </a:r>
          </a:p>
          <a:p>
            <a:pPr>
              <a:lnSpc>
                <a:spcPct val="110000"/>
              </a:lnSpc>
            </a:pPr>
            <a:r>
              <a:rPr lang="en-US" sz="1000"/>
              <a:t>Receives HTTP/HTTPS traffic from </a:t>
            </a:r>
            <a:r>
              <a:rPr lang="en-US" sz="1000" b="1"/>
              <a:t>API Management or Front Door</a:t>
            </a:r>
            <a:endParaRPr lang="en-US" sz="1000"/>
          </a:p>
          <a:p>
            <a:pPr>
              <a:lnSpc>
                <a:spcPct val="110000"/>
              </a:lnSpc>
            </a:pPr>
            <a:r>
              <a:rPr lang="en-US" sz="1000"/>
              <a:t>Routes requests to the </a:t>
            </a:r>
            <a:r>
              <a:rPr lang="en-US" sz="1000" b="1"/>
              <a:t>correct Kubernetes service or pod</a:t>
            </a:r>
            <a:endParaRPr lang="en-US" sz="1000"/>
          </a:p>
          <a:p>
            <a:pPr>
              <a:lnSpc>
                <a:spcPct val="110000"/>
              </a:lnSpc>
            </a:pPr>
            <a:r>
              <a:rPr lang="en-US" sz="1000"/>
              <a:t>Handles path-based and host-based routing</a:t>
            </a:r>
          </a:p>
          <a:p>
            <a:pPr>
              <a:lnSpc>
                <a:spcPct val="110000"/>
              </a:lnSpc>
            </a:pPr>
            <a:r>
              <a:rPr lang="en-US" sz="1000"/>
              <a:t>Terminates TLS </a:t>
            </a:r>
            <a:r>
              <a:rPr lang="en-US" sz="1000" i="1"/>
              <a:t>inside</a:t>
            </a:r>
            <a:r>
              <a:rPr lang="en-US" sz="1000"/>
              <a:t> the cluster (if not already done upstream)</a:t>
            </a:r>
          </a:p>
          <a:p>
            <a:pPr>
              <a:lnSpc>
                <a:spcPct val="110000"/>
              </a:lnSpc>
            </a:pPr>
            <a:r>
              <a:rPr lang="en-US" sz="1000"/>
              <a:t>Why it matters in your AI setup:</a:t>
            </a:r>
          </a:p>
          <a:p>
            <a:pPr>
              <a:lnSpc>
                <a:spcPct val="110000"/>
              </a:lnSpc>
            </a:pPr>
            <a:r>
              <a:rPr lang="en-US" sz="1000"/>
              <a:t>Directs requests to the right agent service (Orchestrator, RAG agents, etc.)</a:t>
            </a:r>
          </a:p>
          <a:p>
            <a:pPr>
              <a:lnSpc>
                <a:spcPct val="110000"/>
              </a:lnSpc>
            </a:pPr>
            <a:r>
              <a:rPr lang="en-US" sz="1000"/>
              <a:t>Keeps services </a:t>
            </a:r>
            <a:r>
              <a:rPr lang="en-US" sz="1000" b="1"/>
              <a:t>private and decoupled</a:t>
            </a:r>
            <a:endParaRPr lang="en-US" sz="1000"/>
          </a:p>
          <a:p>
            <a:pPr>
              <a:lnSpc>
                <a:spcPct val="110000"/>
              </a:lnSpc>
            </a:pPr>
            <a:r>
              <a:rPr lang="en-US" sz="1000"/>
              <a:t>Lets you add, scale, or replace agents without changing external endpoints</a:t>
            </a:r>
          </a:p>
          <a:p>
            <a:pPr>
              <a:lnSpc>
                <a:spcPct val="110000"/>
              </a:lnSpc>
            </a:pPr>
            <a:r>
              <a:rPr lang="en-US" sz="1000"/>
              <a:t>One-liner you can reuse:</a:t>
            </a:r>
          </a:p>
          <a:p>
            <a:pPr>
              <a:lnSpc>
                <a:spcPct val="110000"/>
              </a:lnSpc>
            </a:pPr>
            <a:r>
              <a:rPr lang="en-US" sz="1000"/>
              <a:t>“AKS Ingress controls internal HTTP routing, directing external traffic to the appropriate microservices running inside the Kubernetes cluster.”</a:t>
            </a:r>
          </a:p>
          <a:p>
            <a:pPr>
              <a:lnSpc>
                <a:spcPct val="110000"/>
              </a:lnSpc>
            </a:pPr>
            <a:r>
              <a:rPr lang="en-US" sz="1000"/>
              <a:t>Think of it as the GPS once traffic is already inside the building.</a:t>
            </a:r>
          </a:p>
          <a:p>
            <a:pPr>
              <a:lnSpc>
                <a:spcPct val="110000"/>
              </a:lnSpc>
            </a:pPr>
            <a:endParaRPr lang="en-US" sz="1000"/>
          </a:p>
        </p:txBody>
      </p:sp>
      <p:pic>
        <p:nvPicPr>
          <p:cNvPr id="5" name="Picture 4" descr="Blurred micro image of a street traffic">
            <a:extLst>
              <a:ext uri="{FF2B5EF4-FFF2-40B4-BE49-F238E27FC236}">
                <a16:creationId xmlns:a16="http://schemas.microsoft.com/office/drawing/2014/main" id="{9469B00B-0AA6-0005-B3B2-F15A6D4357D7}"/>
              </a:ext>
            </a:extLst>
          </p:cNvPr>
          <p:cNvPicPr>
            <a:picLocks noChangeAspect="1"/>
          </p:cNvPicPr>
          <p:nvPr/>
        </p:nvPicPr>
        <p:blipFill>
          <a:blip r:embed="rId2"/>
          <a:srcRect l="19411" r="33419"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454684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5FA5F-E35C-184F-E00B-56FA6B635D67}"/>
              </a:ext>
            </a:extLst>
          </p:cNvPr>
          <p:cNvSpPr>
            <a:spLocks noGrp="1"/>
          </p:cNvSpPr>
          <p:nvPr>
            <p:ph type="title"/>
          </p:nvPr>
        </p:nvSpPr>
        <p:spPr>
          <a:xfrm>
            <a:off x="5568534" y="603504"/>
            <a:ext cx="5916169" cy="1527048"/>
          </a:xfrm>
        </p:spPr>
        <p:txBody>
          <a:bodyPr anchor="b">
            <a:normAutofit/>
          </a:bodyPr>
          <a:lstStyle/>
          <a:p>
            <a:r>
              <a:rPr lang="en-US" dirty="0"/>
              <a:t>Azure Kubernetes Service</a:t>
            </a:r>
          </a:p>
        </p:txBody>
      </p:sp>
      <p:pic>
        <p:nvPicPr>
          <p:cNvPr id="5" name="Picture 4">
            <a:extLst>
              <a:ext uri="{FF2B5EF4-FFF2-40B4-BE49-F238E27FC236}">
                <a16:creationId xmlns:a16="http://schemas.microsoft.com/office/drawing/2014/main" id="{1A4B004C-1A86-2326-BD09-0FB1F9BB80BD}"/>
              </a:ext>
            </a:extLst>
          </p:cNvPr>
          <p:cNvPicPr>
            <a:picLocks noChangeAspect="1"/>
          </p:cNvPicPr>
          <p:nvPr/>
        </p:nvPicPr>
        <p:blipFill>
          <a:blip r:embed="rId2"/>
          <a:srcRect l="31668" r="28057"/>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728084B2-01FE-9F6B-DF19-4ED39FC77DF7}"/>
              </a:ext>
            </a:extLst>
          </p:cNvPr>
          <p:cNvSpPr>
            <a:spLocks noGrp="1"/>
          </p:cNvSpPr>
          <p:nvPr>
            <p:ph idx="1"/>
          </p:nvPr>
        </p:nvSpPr>
        <p:spPr>
          <a:xfrm>
            <a:off x="5568533" y="2214282"/>
            <a:ext cx="5916169" cy="4095078"/>
          </a:xfrm>
        </p:spPr>
        <p:txBody>
          <a:bodyPr>
            <a:normAutofit/>
          </a:bodyPr>
          <a:lstStyle/>
          <a:p>
            <a:pPr>
              <a:lnSpc>
                <a:spcPct val="110000"/>
              </a:lnSpc>
            </a:pPr>
            <a:r>
              <a:rPr lang="en-US" sz="900" b="1"/>
              <a:t>Azure Kubernetes Service (AKS)</a:t>
            </a:r>
            <a:r>
              <a:rPr lang="en-US" sz="900"/>
              <a:t> is a </a:t>
            </a:r>
            <a:r>
              <a:rPr lang="en-US" sz="900" b="1"/>
              <a:t>managed platform for running containerized applications at scale</a:t>
            </a:r>
            <a:r>
              <a:rPr lang="en-US" sz="900"/>
              <a:t>.</a:t>
            </a:r>
          </a:p>
          <a:p>
            <a:pPr>
              <a:lnSpc>
                <a:spcPct val="110000"/>
              </a:lnSpc>
            </a:pPr>
            <a:r>
              <a:rPr lang="en-US" sz="900"/>
              <a:t>What it does:</a:t>
            </a:r>
          </a:p>
          <a:p>
            <a:pPr>
              <a:lnSpc>
                <a:spcPct val="110000"/>
              </a:lnSpc>
            </a:pPr>
            <a:r>
              <a:rPr lang="en-US" sz="900"/>
              <a:t>Runs your microservices (LLM orchestrator, agents, ingestion jobs) in containers</a:t>
            </a:r>
          </a:p>
          <a:p>
            <a:pPr>
              <a:lnSpc>
                <a:spcPct val="110000"/>
              </a:lnSpc>
            </a:pPr>
            <a:r>
              <a:rPr lang="en-US" sz="900"/>
              <a:t>Handles </a:t>
            </a:r>
            <a:r>
              <a:rPr lang="en-US" sz="900" b="1"/>
              <a:t>auto-scaling, self-healing, and rolling deployments</a:t>
            </a:r>
            <a:endParaRPr lang="en-US" sz="900"/>
          </a:p>
          <a:p>
            <a:pPr>
              <a:lnSpc>
                <a:spcPct val="110000"/>
              </a:lnSpc>
            </a:pPr>
            <a:r>
              <a:rPr lang="en-US" sz="900"/>
              <a:t>Integrates tightly with Azure networking, security, and monitoring</a:t>
            </a:r>
          </a:p>
          <a:p>
            <a:pPr>
              <a:lnSpc>
                <a:spcPct val="110000"/>
              </a:lnSpc>
            </a:pPr>
            <a:r>
              <a:rPr lang="en-US" sz="900"/>
              <a:t>Offloads Kubernetes control-plane management to Azure</a:t>
            </a:r>
          </a:p>
          <a:p>
            <a:pPr>
              <a:lnSpc>
                <a:spcPct val="110000"/>
              </a:lnSpc>
            </a:pPr>
            <a:r>
              <a:rPr lang="en-US" sz="900"/>
              <a:t>Why it matters in your AI architecture:</a:t>
            </a:r>
          </a:p>
          <a:p>
            <a:pPr>
              <a:lnSpc>
                <a:spcPct val="110000"/>
              </a:lnSpc>
            </a:pPr>
            <a:r>
              <a:rPr lang="en-US" sz="900"/>
              <a:t>Lets you scale agents independently (Ontology, Rules, Knowledge)</a:t>
            </a:r>
          </a:p>
          <a:p>
            <a:pPr>
              <a:lnSpc>
                <a:spcPct val="110000"/>
              </a:lnSpc>
            </a:pPr>
            <a:r>
              <a:rPr lang="en-US" sz="900"/>
              <a:t>Supports high availability and zero-downtime updates</a:t>
            </a:r>
          </a:p>
          <a:p>
            <a:pPr>
              <a:lnSpc>
                <a:spcPct val="110000"/>
              </a:lnSpc>
            </a:pPr>
            <a:r>
              <a:rPr lang="en-US" sz="900"/>
              <a:t>Provides production-grade isolation and reliability for AI workloads</a:t>
            </a:r>
          </a:p>
          <a:p>
            <a:pPr>
              <a:lnSpc>
                <a:spcPct val="110000"/>
              </a:lnSpc>
            </a:pPr>
            <a:r>
              <a:rPr lang="en-US" sz="900"/>
              <a:t>One-liner you can reuse:</a:t>
            </a:r>
          </a:p>
          <a:p>
            <a:pPr>
              <a:lnSpc>
                <a:spcPct val="110000"/>
              </a:lnSpc>
            </a:pPr>
            <a:r>
              <a:rPr lang="en-US" sz="900"/>
              <a:t>“AKS provides a managed Kubernetes environment to run and scale AI microservices reliably without managing the underlying cluster infrastructure.”</a:t>
            </a:r>
          </a:p>
          <a:p>
            <a:pPr>
              <a:lnSpc>
                <a:spcPct val="110000"/>
              </a:lnSpc>
            </a:pPr>
            <a:r>
              <a:rPr lang="en-US" sz="900"/>
              <a:t>Basically: it’s the engine room where all your agents live.</a:t>
            </a:r>
          </a:p>
          <a:p>
            <a:pPr>
              <a:lnSpc>
                <a:spcPct val="110000"/>
              </a:lnSpc>
            </a:pPr>
            <a:endParaRPr lang="en-US" sz="900"/>
          </a:p>
        </p:txBody>
      </p:sp>
    </p:spTree>
    <p:extLst>
      <p:ext uri="{BB962C8B-B14F-4D97-AF65-F5344CB8AC3E}">
        <p14:creationId xmlns:p14="http://schemas.microsoft.com/office/powerpoint/2010/main" val="182247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F256A45-6578-004D-E66D-0FBB184E3F0C}"/>
              </a:ext>
            </a:extLst>
          </p:cNvPr>
          <p:cNvSpPr>
            <a:spLocks noGrp="1"/>
          </p:cNvSpPr>
          <p:nvPr>
            <p:ph type="title"/>
          </p:nvPr>
        </p:nvSpPr>
        <p:spPr>
          <a:xfrm>
            <a:off x="614679" y="548639"/>
            <a:ext cx="3977640" cy="5719640"/>
          </a:xfrm>
        </p:spPr>
        <p:txBody>
          <a:bodyPr anchor="t">
            <a:normAutofit/>
          </a:bodyPr>
          <a:lstStyle/>
          <a:p>
            <a:r>
              <a:rPr lang="en-US"/>
              <a:t>LLM Orchestrator Service</a:t>
            </a:r>
            <a:endParaRPr lang="en-US" dirty="0"/>
          </a:p>
        </p:txBody>
      </p:sp>
      <p:sp>
        <p:nvSpPr>
          <p:cNvPr id="3" name="Content Placeholder 2">
            <a:extLst>
              <a:ext uri="{FF2B5EF4-FFF2-40B4-BE49-F238E27FC236}">
                <a16:creationId xmlns:a16="http://schemas.microsoft.com/office/drawing/2014/main" id="{5A55393C-D02E-AB26-ED1B-70118B8BD83C}"/>
              </a:ext>
            </a:extLst>
          </p:cNvPr>
          <p:cNvSpPr>
            <a:spLocks noGrp="1"/>
          </p:cNvSpPr>
          <p:nvPr>
            <p:ph idx="1"/>
          </p:nvPr>
        </p:nvSpPr>
        <p:spPr>
          <a:xfrm>
            <a:off x="5387542" y="548639"/>
            <a:ext cx="6189780" cy="5861304"/>
          </a:xfrm>
        </p:spPr>
        <p:txBody>
          <a:bodyPr anchor="t">
            <a:normAutofit/>
          </a:bodyPr>
          <a:lstStyle/>
          <a:p>
            <a:pPr>
              <a:lnSpc>
                <a:spcPct val="110000"/>
              </a:lnSpc>
            </a:pPr>
            <a:r>
              <a:rPr lang="en-US" sz="1400" b="1"/>
              <a:t>LLM Orchestrator Service — what it is</a:t>
            </a:r>
          </a:p>
          <a:p>
            <a:pPr>
              <a:lnSpc>
                <a:spcPct val="110000"/>
              </a:lnSpc>
            </a:pPr>
            <a:r>
              <a:rPr lang="en-US" sz="1400"/>
              <a:t>The </a:t>
            </a:r>
            <a:r>
              <a:rPr lang="en-US" sz="1400" b="1"/>
              <a:t>LLM Orchestrator Service</a:t>
            </a:r>
            <a:r>
              <a:rPr lang="en-US" sz="1400"/>
              <a:t> is the </a:t>
            </a:r>
            <a:r>
              <a:rPr lang="en-US" sz="1400" b="1"/>
              <a:t>central control plane</a:t>
            </a:r>
            <a:r>
              <a:rPr lang="en-US" sz="1400"/>
              <a:t> that decides </a:t>
            </a:r>
            <a:r>
              <a:rPr lang="en-US" sz="1400" i="1"/>
              <a:t>how</a:t>
            </a:r>
            <a:r>
              <a:rPr lang="en-US" sz="1400"/>
              <a:t> a user request is handled, </a:t>
            </a:r>
            <a:r>
              <a:rPr lang="en-US" sz="1400" i="1"/>
              <a:t>which agents are invoked</a:t>
            </a:r>
            <a:r>
              <a:rPr lang="en-US" sz="1400"/>
              <a:t>, and </a:t>
            </a:r>
            <a:r>
              <a:rPr lang="en-US" sz="1400" i="1"/>
              <a:t>in what order</a:t>
            </a:r>
            <a:r>
              <a:rPr lang="en-US" sz="1400"/>
              <a:t>—before anything ever reaches the LLM.</a:t>
            </a:r>
          </a:p>
          <a:p>
            <a:pPr>
              <a:lnSpc>
                <a:spcPct val="110000"/>
              </a:lnSpc>
            </a:pPr>
            <a:r>
              <a:rPr lang="en-US" sz="1400"/>
              <a:t>It does </a:t>
            </a:r>
            <a:r>
              <a:rPr lang="en-US" sz="1400" b="1"/>
              <a:t>not</a:t>
            </a:r>
            <a:r>
              <a:rPr lang="en-US" sz="1400"/>
              <a:t> just call a model. It manages the entire reasoning workflow.</a:t>
            </a:r>
          </a:p>
          <a:p>
            <a:pPr>
              <a:lnSpc>
                <a:spcPct val="110000"/>
              </a:lnSpc>
            </a:pPr>
            <a:r>
              <a:rPr lang="en-US" sz="1400" b="1"/>
              <a:t>What it does (in plain English)</a:t>
            </a:r>
          </a:p>
          <a:p>
            <a:pPr>
              <a:lnSpc>
                <a:spcPct val="110000"/>
              </a:lnSpc>
            </a:pPr>
            <a:r>
              <a:rPr lang="en-US" sz="1400"/>
              <a:t>When a request comes in, the orchestrator:</a:t>
            </a:r>
          </a:p>
          <a:p>
            <a:pPr>
              <a:lnSpc>
                <a:spcPct val="110000"/>
              </a:lnSpc>
            </a:pPr>
            <a:r>
              <a:rPr lang="en-US" sz="1400"/>
              <a:t>Classifies intent (Q&amp;A, summarization, safety-sensitive, terminology-heavy, etc.)</a:t>
            </a:r>
          </a:p>
          <a:p>
            <a:pPr>
              <a:lnSpc>
                <a:spcPct val="110000"/>
              </a:lnSpc>
            </a:pPr>
            <a:r>
              <a:rPr lang="en-US" sz="1400"/>
              <a:t>Selects the right agents (Ontology, Drug Safety Rules, Knowledge, Q&amp;A)</a:t>
            </a:r>
          </a:p>
          <a:p>
            <a:pPr>
              <a:lnSpc>
                <a:spcPct val="110000"/>
              </a:lnSpc>
            </a:pPr>
            <a:r>
              <a:rPr lang="en-US" sz="1400"/>
              <a:t>Enforces ordering (e.g., </a:t>
            </a:r>
            <a:r>
              <a:rPr lang="en-US" sz="1400" b="1"/>
              <a:t>rules before generation</a:t>
            </a:r>
            <a:r>
              <a:rPr lang="en-US" sz="1400"/>
              <a:t>)</a:t>
            </a:r>
          </a:p>
          <a:p>
            <a:pPr>
              <a:lnSpc>
                <a:spcPct val="110000"/>
              </a:lnSpc>
            </a:pPr>
            <a:r>
              <a:rPr lang="en-US" sz="1400"/>
              <a:t>Aggregates retrieved context</a:t>
            </a:r>
          </a:p>
          <a:p>
            <a:pPr>
              <a:lnSpc>
                <a:spcPct val="110000"/>
              </a:lnSpc>
            </a:pPr>
            <a:r>
              <a:rPr lang="en-US" sz="1400"/>
              <a:t>Applies policy constraints and guardrails</a:t>
            </a:r>
          </a:p>
          <a:p>
            <a:pPr>
              <a:lnSpc>
                <a:spcPct val="110000"/>
              </a:lnSpc>
            </a:pPr>
            <a:r>
              <a:rPr lang="en-US" sz="1400"/>
              <a:t>Calls Azure OpenAI with a </a:t>
            </a:r>
            <a:r>
              <a:rPr lang="en-US" sz="1400" b="1"/>
              <a:t>grounded, structured prompt</a:t>
            </a:r>
            <a:endParaRPr lang="en-US" sz="1400"/>
          </a:p>
          <a:p>
            <a:pPr>
              <a:lnSpc>
                <a:spcPct val="110000"/>
              </a:lnSpc>
            </a:pPr>
            <a:r>
              <a:rPr lang="en-US" sz="1400"/>
              <a:t>Returns a compliant, traceable response</a:t>
            </a:r>
          </a:p>
          <a:p>
            <a:pPr>
              <a:lnSpc>
                <a:spcPct val="110000"/>
              </a:lnSpc>
            </a:pPr>
            <a:r>
              <a:rPr lang="en-US" sz="1400"/>
              <a:t>Think of it as </a:t>
            </a:r>
            <a:r>
              <a:rPr lang="en-US" sz="1400" b="1"/>
              <a:t>traffic control for intelligence</a:t>
            </a:r>
            <a:r>
              <a:rPr lang="en-US" sz="1400"/>
              <a:t>.</a:t>
            </a:r>
          </a:p>
          <a:p>
            <a:pPr>
              <a:lnSpc>
                <a:spcPct val="110000"/>
              </a:lnSpc>
            </a:pPr>
            <a:endParaRPr lang="en-US" sz="1400"/>
          </a:p>
        </p:txBody>
      </p:sp>
    </p:spTree>
    <p:extLst>
      <p:ext uri="{BB962C8B-B14F-4D97-AF65-F5344CB8AC3E}">
        <p14:creationId xmlns:p14="http://schemas.microsoft.com/office/powerpoint/2010/main" val="126280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001218-4192-A14C-13C5-B4F40C748E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238CED9-99E4-B3C8-11FE-11E3D5CD2AE6}"/>
              </a:ext>
            </a:extLst>
          </p:cNvPr>
          <p:cNvSpPr>
            <a:spLocks noGrp="1"/>
          </p:cNvSpPr>
          <p:nvPr>
            <p:ph type="title"/>
          </p:nvPr>
        </p:nvSpPr>
        <p:spPr>
          <a:xfrm>
            <a:off x="614679" y="548639"/>
            <a:ext cx="3977640" cy="5719640"/>
          </a:xfrm>
        </p:spPr>
        <p:txBody>
          <a:bodyPr anchor="t">
            <a:normAutofit/>
          </a:bodyPr>
          <a:lstStyle/>
          <a:p>
            <a:r>
              <a:rPr lang="en-US" dirty="0"/>
              <a:t>Azure Cache for Redis</a:t>
            </a:r>
          </a:p>
        </p:txBody>
      </p:sp>
      <p:sp>
        <p:nvSpPr>
          <p:cNvPr id="3" name="Content Placeholder 2">
            <a:extLst>
              <a:ext uri="{FF2B5EF4-FFF2-40B4-BE49-F238E27FC236}">
                <a16:creationId xmlns:a16="http://schemas.microsoft.com/office/drawing/2014/main" id="{E3094D5F-3B69-DD86-9BC7-6F0B45D1317A}"/>
              </a:ext>
            </a:extLst>
          </p:cNvPr>
          <p:cNvSpPr>
            <a:spLocks noGrp="1"/>
          </p:cNvSpPr>
          <p:nvPr>
            <p:ph idx="1"/>
          </p:nvPr>
        </p:nvSpPr>
        <p:spPr>
          <a:xfrm>
            <a:off x="5387542" y="548639"/>
            <a:ext cx="6189780" cy="5861304"/>
          </a:xfrm>
        </p:spPr>
        <p:txBody>
          <a:bodyPr anchor="t">
            <a:normAutofit/>
          </a:bodyPr>
          <a:lstStyle/>
          <a:p>
            <a:pPr>
              <a:lnSpc>
                <a:spcPct val="110000"/>
              </a:lnSpc>
            </a:pPr>
            <a:r>
              <a:rPr lang="en-US" sz="1400" b="1"/>
              <a:t>Azure Cache for Redis</a:t>
            </a:r>
            <a:r>
              <a:rPr lang="en-US" sz="1400"/>
              <a:t> is a </a:t>
            </a:r>
            <a:r>
              <a:rPr lang="en-US" sz="1400" b="1"/>
              <a:t>high-speed, in-memory data store</a:t>
            </a:r>
            <a:r>
              <a:rPr lang="en-US" sz="1400"/>
              <a:t> used to keep frequently accessed data so your system doesn’t have to recompute or re-fetch it every time.</a:t>
            </a:r>
          </a:p>
          <a:p>
            <a:pPr>
              <a:lnSpc>
                <a:spcPct val="110000"/>
              </a:lnSpc>
            </a:pPr>
            <a:r>
              <a:rPr lang="en-US" sz="1400"/>
              <a:t>Provided by Microsoft Azure, it’s basically RAM with superpowers.</a:t>
            </a:r>
          </a:p>
          <a:p>
            <a:pPr>
              <a:lnSpc>
                <a:spcPct val="110000"/>
              </a:lnSpc>
            </a:pPr>
            <a:r>
              <a:rPr lang="en-US" sz="1400"/>
              <a:t>What it does:</a:t>
            </a:r>
          </a:p>
          <a:p>
            <a:pPr>
              <a:lnSpc>
                <a:spcPct val="110000"/>
              </a:lnSpc>
            </a:pPr>
            <a:r>
              <a:rPr lang="en-US" sz="1400"/>
              <a:t>Stores data in memory for </a:t>
            </a:r>
            <a:r>
              <a:rPr lang="en-US" sz="1400" b="1"/>
              <a:t>microsecond-level access</a:t>
            </a:r>
            <a:endParaRPr lang="en-US" sz="1400"/>
          </a:p>
          <a:p>
            <a:pPr>
              <a:lnSpc>
                <a:spcPct val="110000"/>
              </a:lnSpc>
            </a:pPr>
            <a:r>
              <a:rPr lang="en-US" sz="1400"/>
              <a:t>Handles </a:t>
            </a:r>
            <a:r>
              <a:rPr lang="en-US" sz="1400" b="1"/>
              <a:t>session state, request context, and intermediate results</a:t>
            </a:r>
            <a:endParaRPr lang="en-US" sz="1400"/>
          </a:p>
          <a:p>
            <a:pPr>
              <a:lnSpc>
                <a:spcPct val="110000"/>
              </a:lnSpc>
            </a:pPr>
            <a:r>
              <a:rPr lang="en-US" sz="1400"/>
              <a:t>Reduces repeated calls to databases, vector search, or LLMs</a:t>
            </a:r>
          </a:p>
          <a:p>
            <a:pPr>
              <a:lnSpc>
                <a:spcPct val="110000"/>
              </a:lnSpc>
            </a:pPr>
            <a:r>
              <a:rPr lang="en-US" sz="1400"/>
              <a:t>Why it matters in your LLM orchestration architecture:</a:t>
            </a:r>
          </a:p>
          <a:p>
            <a:pPr>
              <a:lnSpc>
                <a:spcPct val="110000"/>
              </a:lnSpc>
            </a:pPr>
            <a:r>
              <a:rPr lang="en-US" sz="1400"/>
              <a:t>Caches </a:t>
            </a:r>
            <a:r>
              <a:rPr lang="en-US" sz="1400" b="1"/>
              <a:t>agent decisions, routing results, and conversation state</a:t>
            </a:r>
            <a:endParaRPr lang="en-US" sz="1400"/>
          </a:p>
          <a:p>
            <a:pPr>
              <a:lnSpc>
                <a:spcPct val="110000"/>
              </a:lnSpc>
            </a:pPr>
            <a:r>
              <a:rPr lang="en-US" sz="1400"/>
              <a:t>Prevents re-running the same ontology or rules checks</a:t>
            </a:r>
          </a:p>
          <a:p>
            <a:pPr>
              <a:lnSpc>
                <a:spcPct val="110000"/>
              </a:lnSpc>
            </a:pPr>
            <a:r>
              <a:rPr lang="en-US" sz="1400"/>
              <a:t>Helps control </a:t>
            </a:r>
            <a:r>
              <a:rPr lang="en-US" sz="1400" b="1"/>
              <a:t>latency and token costs</a:t>
            </a:r>
            <a:endParaRPr lang="en-US" sz="1400"/>
          </a:p>
          <a:p>
            <a:pPr>
              <a:lnSpc>
                <a:spcPct val="110000"/>
              </a:lnSpc>
            </a:pPr>
            <a:r>
              <a:rPr lang="en-US" sz="1400"/>
              <a:t>Enables scalable, stateless agent services in AKS</a:t>
            </a:r>
          </a:p>
          <a:p>
            <a:pPr>
              <a:lnSpc>
                <a:spcPct val="110000"/>
              </a:lnSpc>
            </a:pPr>
            <a:r>
              <a:rPr lang="en-US" sz="1400"/>
              <a:t>One-liner you can reuse:</a:t>
            </a:r>
          </a:p>
          <a:p>
            <a:pPr>
              <a:lnSpc>
                <a:spcPct val="110000"/>
              </a:lnSpc>
            </a:pPr>
            <a:r>
              <a:rPr lang="en-US" sz="1400"/>
              <a:t>“Azure Cache for Redis provides low-latency, in-memory caching for session state and intermediate results, improving performance and scalability of LLM-driven workflows.”</a:t>
            </a:r>
          </a:p>
          <a:p>
            <a:pPr>
              <a:lnSpc>
                <a:spcPct val="110000"/>
              </a:lnSpc>
            </a:pPr>
            <a:endParaRPr lang="en-US" sz="1400"/>
          </a:p>
        </p:txBody>
      </p:sp>
    </p:spTree>
    <p:extLst>
      <p:ext uri="{BB962C8B-B14F-4D97-AF65-F5344CB8AC3E}">
        <p14:creationId xmlns:p14="http://schemas.microsoft.com/office/powerpoint/2010/main" val="2502646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0CD3F1-AACD-6921-654C-54BAAD6390B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A5217-8429-BC11-1FAB-A5837B8E1D10}"/>
              </a:ext>
            </a:extLst>
          </p:cNvPr>
          <p:cNvSpPr>
            <a:spLocks noGrp="1"/>
          </p:cNvSpPr>
          <p:nvPr>
            <p:ph type="title"/>
          </p:nvPr>
        </p:nvSpPr>
        <p:spPr>
          <a:xfrm>
            <a:off x="612648" y="600074"/>
            <a:ext cx="6035040" cy="1529932"/>
          </a:xfrm>
        </p:spPr>
        <p:txBody>
          <a:bodyPr anchor="b">
            <a:normAutofit/>
          </a:bodyPr>
          <a:lstStyle/>
          <a:p>
            <a:r>
              <a:rPr lang="en-US" dirty="0"/>
              <a:t>Azure Open AI</a:t>
            </a:r>
          </a:p>
        </p:txBody>
      </p:sp>
      <p:sp>
        <p:nvSpPr>
          <p:cNvPr id="3" name="Content Placeholder 2">
            <a:extLst>
              <a:ext uri="{FF2B5EF4-FFF2-40B4-BE49-F238E27FC236}">
                <a16:creationId xmlns:a16="http://schemas.microsoft.com/office/drawing/2014/main" id="{80D19728-47B1-67E4-9ECE-13897C3A76D1}"/>
              </a:ext>
            </a:extLst>
          </p:cNvPr>
          <p:cNvSpPr>
            <a:spLocks noGrp="1"/>
          </p:cNvSpPr>
          <p:nvPr>
            <p:ph idx="1"/>
          </p:nvPr>
        </p:nvSpPr>
        <p:spPr>
          <a:xfrm>
            <a:off x="612647" y="2212848"/>
            <a:ext cx="6035041" cy="4096512"/>
          </a:xfrm>
        </p:spPr>
        <p:txBody>
          <a:bodyPr>
            <a:normAutofit/>
          </a:bodyPr>
          <a:lstStyle/>
          <a:p>
            <a:pPr>
              <a:lnSpc>
                <a:spcPct val="110000"/>
              </a:lnSpc>
            </a:pPr>
            <a:r>
              <a:rPr lang="en-US" sz="1000" b="1"/>
              <a:t>Azure OpenAI Service</a:t>
            </a:r>
            <a:r>
              <a:rPr lang="en-US" sz="1000"/>
              <a:t> is a </a:t>
            </a:r>
            <a:r>
              <a:rPr lang="en-US" sz="1000" b="1"/>
              <a:t>managed, secure way to run OpenAI models inside your Azure environment</a:t>
            </a:r>
            <a:r>
              <a:rPr lang="en-US" sz="1000"/>
              <a:t>.</a:t>
            </a:r>
          </a:p>
          <a:p>
            <a:pPr>
              <a:lnSpc>
                <a:spcPct val="110000"/>
              </a:lnSpc>
            </a:pPr>
            <a:r>
              <a:rPr lang="en-US" sz="1000"/>
              <a:t>Offered by Microsoft Azure, it gives you access to GPT models, embeddings, and chat completions </a:t>
            </a:r>
            <a:r>
              <a:rPr lang="en-US" sz="1000" b="1"/>
              <a:t>without sending data outside your tenant</a:t>
            </a:r>
            <a:r>
              <a:rPr lang="en-US" sz="1000"/>
              <a:t>.</a:t>
            </a:r>
          </a:p>
          <a:p>
            <a:pPr>
              <a:lnSpc>
                <a:spcPct val="110000"/>
              </a:lnSpc>
            </a:pPr>
            <a:r>
              <a:rPr lang="en-US" sz="1000"/>
              <a:t>What it does:</a:t>
            </a:r>
          </a:p>
          <a:p>
            <a:pPr>
              <a:lnSpc>
                <a:spcPct val="110000"/>
              </a:lnSpc>
            </a:pPr>
            <a:r>
              <a:rPr lang="en-US" sz="1000"/>
              <a:t>Hosts large language models (GPT-4-class, embeddings, etc.)</a:t>
            </a:r>
          </a:p>
          <a:p>
            <a:pPr>
              <a:lnSpc>
                <a:spcPct val="110000"/>
              </a:lnSpc>
            </a:pPr>
            <a:r>
              <a:rPr lang="en-US" sz="1000"/>
              <a:t>Generates text, summaries, reasoning, and embeddings</a:t>
            </a:r>
          </a:p>
          <a:p>
            <a:pPr>
              <a:lnSpc>
                <a:spcPct val="110000"/>
              </a:lnSpc>
            </a:pPr>
            <a:r>
              <a:rPr lang="en-US" sz="1000"/>
              <a:t>Integrates natively with Azure networking, identity, and monitoring</a:t>
            </a:r>
          </a:p>
          <a:p>
            <a:pPr>
              <a:lnSpc>
                <a:spcPct val="110000"/>
              </a:lnSpc>
            </a:pPr>
            <a:r>
              <a:rPr lang="en-US" sz="1000"/>
              <a:t>Why it matters in your architecture:</a:t>
            </a:r>
          </a:p>
          <a:p>
            <a:pPr>
              <a:lnSpc>
                <a:spcPct val="110000"/>
              </a:lnSpc>
            </a:pPr>
            <a:r>
              <a:rPr lang="en-US" sz="1000"/>
              <a:t>Keeps sensitive pharma/enterprise data </a:t>
            </a:r>
            <a:r>
              <a:rPr lang="en-US" sz="1000" b="1"/>
              <a:t>private and compliant</a:t>
            </a:r>
            <a:endParaRPr lang="en-US" sz="1000"/>
          </a:p>
          <a:p>
            <a:pPr>
              <a:lnSpc>
                <a:spcPct val="110000"/>
              </a:lnSpc>
            </a:pPr>
            <a:r>
              <a:rPr lang="en-US" sz="1000"/>
              <a:t>Supports </a:t>
            </a:r>
            <a:r>
              <a:rPr lang="en-US" sz="1000" b="1"/>
              <a:t>RAG workflows</a:t>
            </a:r>
            <a:r>
              <a:rPr lang="en-US" sz="1000"/>
              <a:t> (embeddings + generation)</a:t>
            </a:r>
          </a:p>
          <a:p>
            <a:pPr>
              <a:lnSpc>
                <a:spcPct val="110000"/>
              </a:lnSpc>
            </a:pPr>
            <a:r>
              <a:rPr lang="en-US" sz="1000"/>
              <a:t>Enables logging, auditing, and access control</a:t>
            </a:r>
          </a:p>
          <a:p>
            <a:pPr>
              <a:lnSpc>
                <a:spcPct val="110000"/>
              </a:lnSpc>
            </a:pPr>
            <a:r>
              <a:rPr lang="en-US" sz="1000"/>
              <a:t>Works cleanly with AKS, AI Search, and APIM</a:t>
            </a:r>
          </a:p>
          <a:p>
            <a:pPr>
              <a:lnSpc>
                <a:spcPct val="110000"/>
              </a:lnSpc>
            </a:pPr>
            <a:r>
              <a:rPr lang="en-US" sz="1000"/>
              <a:t>“Azure OpenAI provides secure, enterprise-grade access to large language models within Azure, enabling compliant generation and embedding for AI applications.”</a:t>
            </a:r>
          </a:p>
          <a:p>
            <a:pPr>
              <a:lnSpc>
                <a:spcPct val="110000"/>
              </a:lnSpc>
            </a:pPr>
            <a:endParaRPr lang="en-US" sz="1000"/>
          </a:p>
        </p:txBody>
      </p:sp>
      <p:pic>
        <p:nvPicPr>
          <p:cNvPr id="5" name="Picture 4" descr="A 3D pattern of ring shapes connected by lines">
            <a:extLst>
              <a:ext uri="{FF2B5EF4-FFF2-40B4-BE49-F238E27FC236}">
                <a16:creationId xmlns:a16="http://schemas.microsoft.com/office/drawing/2014/main" id="{18362E4E-69C0-B1EC-12D2-CDABB2DCF1B1}"/>
              </a:ext>
            </a:extLst>
          </p:cNvPr>
          <p:cNvPicPr>
            <a:picLocks noChangeAspect="1"/>
          </p:cNvPicPr>
          <p:nvPr/>
        </p:nvPicPr>
        <p:blipFill>
          <a:blip r:embed="rId2"/>
          <a:srcRect l="13764" r="46486"/>
          <a:stretch>
            <a:fillRect/>
          </a:stretch>
        </p:blipFill>
        <p:spPr>
          <a:xfrm>
            <a:off x="7345680" y="10"/>
            <a:ext cx="4846320" cy="6857990"/>
          </a:xfrm>
          <a:prstGeom prst="rect">
            <a:avLst/>
          </a:prstGeom>
        </p:spPr>
      </p:pic>
    </p:spTree>
    <p:extLst>
      <p:ext uri="{BB962C8B-B14F-4D97-AF65-F5344CB8AC3E}">
        <p14:creationId xmlns:p14="http://schemas.microsoft.com/office/powerpoint/2010/main" val="2328491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87C14-A790-CF10-DB81-CF8B34BBB77E}"/>
              </a:ext>
            </a:extLst>
          </p:cNvPr>
          <p:cNvSpPr>
            <a:spLocks noGrp="1"/>
          </p:cNvSpPr>
          <p:nvPr>
            <p:ph type="title"/>
          </p:nvPr>
        </p:nvSpPr>
        <p:spPr>
          <a:xfrm>
            <a:off x="612648" y="600074"/>
            <a:ext cx="6035040" cy="1529932"/>
          </a:xfrm>
        </p:spPr>
        <p:txBody>
          <a:bodyPr anchor="b">
            <a:normAutofit/>
          </a:bodyPr>
          <a:lstStyle/>
          <a:p>
            <a:r>
              <a:rPr lang="en-US" dirty="0"/>
              <a:t>Azure AI Search (Hybrid + Vector)</a:t>
            </a:r>
          </a:p>
        </p:txBody>
      </p:sp>
      <p:sp>
        <p:nvSpPr>
          <p:cNvPr id="3" name="Content Placeholder 2">
            <a:extLst>
              <a:ext uri="{FF2B5EF4-FFF2-40B4-BE49-F238E27FC236}">
                <a16:creationId xmlns:a16="http://schemas.microsoft.com/office/drawing/2014/main" id="{51B1BC1C-A7D6-990F-740A-C0EAAA25283F}"/>
              </a:ext>
            </a:extLst>
          </p:cNvPr>
          <p:cNvSpPr>
            <a:spLocks noGrp="1"/>
          </p:cNvSpPr>
          <p:nvPr>
            <p:ph idx="1"/>
          </p:nvPr>
        </p:nvSpPr>
        <p:spPr>
          <a:xfrm>
            <a:off x="612647" y="2212848"/>
            <a:ext cx="6035041" cy="4096512"/>
          </a:xfrm>
        </p:spPr>
        <p:txBody>
          <a:bodyPr>
            <a:normAutofit/>
          </a:bodyPr>
          <a:lstStyle/>
          <a:p>
            <a:pPr>
              <a:lnSpc>
                <a:spcPct val="110000"/>
              </a:lnSpc>
            </a:pPr>
            <a:r>
              <a:rPr lang="en-US" sz="900" b="1"/>
              <a:t>Azure AI Search (Hybrid + Vector)</a:t>
            </a:r>
            <a:r>
              <a:rPr lang="en-US" sz="900"/>
              <a:t> is a </a:t>
            </a:r>
            <a:r>
              <a:rPr lang="en-US" sz="900" b="1"/>
              <a:t>retrieval engine that combines keyword search and semantic vector search</a:t>
            </a:r>
            <a:r>
              <a:rPr lang="en-US" sz="900"/>
              <a:t> to find the most relevant information for LLMs.</a:t>
            </a:r>
          </a:p>
          <a:p>
            <a:pPr>
              <a:lnSpc>
                <a:spcPct val="110000"/>
              </a:lnSpc>
            </a:pPr>
            <a:r>
              <a:rPr lang="en-US" sz="900"/>
              <a:t>What it does:</a:t>
            </a:r>
          </a:p>
          <a:p>
            <a:pPr>
              <a:lnSpc>
                <a:spcPct val="110000"/>
              </a:lnSpc>
            </a:pPr>
            <a:r>
              <a:rPr lang="en-US" sz="900"/>
              <a:t>Uses </a:t>
            </a:r>
            <a:r>
              <a:rPr lang="en-US" sz="900" b="1"/>
              <a:t>keyword/BM25 search</a:t>
            </a:r>
            <a:r>
              <a:rPr lang="en-US" sz="900"/>
              <a:t> for exact terms and filters</a:t>
            </a:r>
          </a:p>
          <a:p>
            <a:pPr>
              <a:lnSpc>
                <a:spcPct val="110000"/>
              </a:lnSpc>
            </a:pPr>
            <a:r>
              <a:rPr lang="en-US" sz="900"/>
              <a:t>Uses </a:t>
            </a:r>
            <a:r>
              <a:rPr lang="en-US" sz="900" b="1"/>
              <a:t>vector search</a:t>
            </a:r>
            <a:r>
              <a:rPr lang="en-US" sz="900"/>
              <a:t> for semantic similarity</a:t>
            </a:r>
          </a:p>
          <a:p>
            <a:pPr>
              <a:lnSpc>
                <a:spcPct val="110000"/>
              </a:lnSpc>
            </a:pPr>
            <a:r>
              <a:rPr lang="en-US" sz="900"/>
              <a:t>Merges both results into a single ranked response (hybrid)</a:t>
            </a:r>
          </a:p>
          <a:p>
            <a:pPr>
              <a:lnSpc>
                <a:spcPct val="110000"/>
              </a:lnSpc>
            </a:pPr>
            <a:r>
              <a:rPr lang="en-US" sz="900"/>
              <a:t>Stores embeddings plus metadata for grounding LLM outputs</a:t>
            </a:r>
          </a:p>
          <a:p>
            <a:pPr>
              <a:lnSpc>
                <a:spcPct val="110000"/>
              </a:lnSpc>
            </a:pPr>
            <a:r>
              <a:rPr lang="en-US" sz="900"/>
              <a:t>Why it matters in your RAG architecture:</a:t>
            </a:r>
          </a:p>
          <a:p>
            <a:pPr>
              <a:lnSpc>
                <a:spcPct val="110000"/>
              </a:lnSpc>
            </a:pPr>
            <a:r>
              <a:rPr lang="en-US" sz="900"/>
              <a:t>Enables accurate, low-hallucination retrieval</a:t>
            </a:r>
          </a:p>
          <a:p>
            <a:pPr>
              <a:lnSpc>
                <a:spcPct val="110000"/>
              </a:lnSpc>
            </a:pPr>
            <a:r>
              <a:rPr lang="en-US" sz="900"/>
              <a:t>Supports multiple indexes (knowledge, ontology, compliance)</a:t>
            </a:r>
          </a:p>
          <a:p>
            <a:pPr>
              <a:lnSpc>
                <a:spcPct val="110000"/>
              </a:lnSpc>
            </a:pPr>
            <a:r>
              <a:rPr lang="en-US" sz="900"/>
              <a:t>Allows filtering by metadata (source, date, access level)</a:t>
            </a:r>
          </a:p>
          <a:p>
            <a:pPr>
              <a:lnSpc>
                <a:spcPct val="110000"/>
              </a:lnSpc>
            </a:pPr>
            <a:r>
              <a:rPr lang="en-US" sz="900"/>
              <a:t>Feeds precise context into Azure OpenAI</a:t>
            </a:r>
          </a:p>
          <a:p>
            <a:pPr>
              <a:lnSpc>
                <a:spcPct val="110000"/>
              </a:lnSpc>
            </a:pPr>
            <a:r>
              <a:rPr lang="en-US" sz="900"/>
              <a:t>One-liner you can reuse:</a:t>
            </a:r>
          </a:p>
          <a:p>
            <a:pPr>
              <a:lnSpc>
                <a:spcPct val="110000"/>
              </a:lnSpc>
            </a:pPr>
            <a:r>
              <a:rPr lang="en-US" sz="900"/>
              <a:t>“Azure AI Search enables hybrid keyword and vector retrieval, providing accurate, semantically grounded context for RAG-based LLM applications.”</a:t>
            </a:r>
          </a:p>
          <a:p>
            <a:pPr>
              <a:lnSpc>
                <a:spcPct val="110000"/>
              </a:lnSpc>
            </a:pPr>
            <a:endParaRPr lang="en-US" sz="900"/>
          </a:p>
        </p:txBody>
      </p:sp>
      <p:pic>
        <p:nvPicPr>
          <p:cNvPr id="5" name="Picture 4" descr="Computer script on a screen">
            <a:extLst>
              <a:ext uri="{FF2B5EF4-FFF2-40B4-BE49-F238E27FC236}">
                <a16:creationId xmlns:a16="http://schemas.microsoft.com/office/drawing/2014/main" id="{40087107-8D35-F092-E415-18FBB4B1638F}"/>
              </a:ext>
            </a:extLst>
          </p:cNvPr>
          <p:cNvPicPr>
            <a:picLocks noChangeAspect="1"/>
          </p:cNvPicPr>
          <p:nvPr/>
        </p:nvPicPr>
        <p:blipFill>
          <a:blip r:embed="rId2"/>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429432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B8AC5-3DBF-3168-4933-C1776F972A4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D21DC73-64F2-FEF8-A91D-973C53CC9DFE}"/>
              </a:ext>
            </a:extLst>
          </p:cNvPr>
          <p:cNvSpPr>
            <a:spLocks noGrp="1"/>
          </p:cNvSpPr>
          <p:nvPr>
            <p:ph type="title"/>
          </p:nvPr>
        </p:nvSpPr>
        <p:spPr>
          <a:xfrm>
            <a:off x="614679" y="548639"/>
            <a:ext cx="3977640" cy="5719640"/>
          </a:xfrm>
        </p:spPr>
        <p:txBody>
          <a:bodyPr anchor="t">
            <a:normAutofit/>
          </a:bodyPr>
          <a:lstStyle/>
          <a:p>
            <a:r>
              <a:rPr lang="en-US" dirty="0"/>
              <a:t>How the Ingestion / ETL Plane works (step by step)</a:t>
            </a:r>
          </a:p>
        </p:txBody>
      </p:sp>
      <p:sp>
        <p:nvSpPr>
          <p:cNvPr id="3" name="Content Placeholder 2">
            <a:extLst>
              <a:ext uri="{FF2B5EF4-FFF2-40B4-BE49-F238E27FC236}">
                <a16:creationId xmlns:a16="http://schemas.microsoft.com/office/drawing/2014/main" id="{420F907E-A9DE-0215-8FB6-1C61DA5F40EE}"/>
              </a:ext>
            </a:extLst>
          </p:cNvPr>
          <p:cNvSpPr>
            <a:spLocks noGrp="1"/>
          </p:cNvSpPr>
          <p:nvPr>
            <p:ph idx="1"/>
          </p:nvPr>
        </p:nvSpPr>
        <p:spPr>
          <a:xfrm>
            <a:off x="5387542" y="548639"/>
            <a:ext cx="6189780" cy="5861304"/>
          </a:xfrm>
        </p:spPr>
        <p:txBody>
          <a:bodyPr anchor="t">
            <a:normAutofit/>
          </a:bodyPr>
          <a:lstStyle/>
          <a:p>
            <a:pPr>
              <a:lnSpc>
                <a:spcPct val="110000"/>
              </a:lnSpc>
            </a:pPr>
            <a:r>
              <a:rPr lang="en-US" sz="1000" b="1"/>
              <a:t>Blob Storage (Raw)</a:t>
            </a:r>
            <a:br>
              <a:rPr lang="en-US" sz="1000"/>
            </a:br>
            <a:r>
              <a:rPr lang="en-US" sz="1000"/>
              <a:t>This is the landing zone. PDFs, regulations, SOPs, drug labels, and source files are stored </a:t>
            </a:r>
            <a:r>
              <a:rPr lang="en-US" sz="1000" i="1"/>
              <a:t>as-is</a:t>
            </a:r>
            <a:r>
              <a:rPr lang="en-US" sz="1000"/>
              <a:t>—no cleaning, no transformation yet.</a:t>
            </a:r>
          </a:p>
          <a:p>
            <a:pPr>
              <a:lnSpc>
                <a:spcPct val="110000"/>
              </a:lnSpc>
            </a:pPr>
            <a:r>
              <a:rPr lang="en-US" sz="1000" b="1"/>
              <a:t>Event Grid</a:t>
            </a:r>
            <a:br>
              <a:rPr lang="en-US" sz="1000"/>
            </a:br>
            <a:r>
              <a:rPr lang="en-US" sz="1000"/>
              <a:t>Event Grid is the </a:t>
            </a:r>
            <a:r>
              <a:rPr lang="en-US" sz="1000" b="1"/>
              <a:t>tripwire</a:t>
            </a:r>
            <a:r>
              <a:rPr lang="en-US" sz="1000"/>
              <a:t>. The moment a new file lands in Raw Blob Storage, it emits an event saying, </a:t>
            </a:r>
            <a:r>
              <a:rPr lang="en-US" sz="1000" i="1"/>
              <a:t>“Hey, new data just arrived.”</a:t>
            </a:r>
            <a:endParaRPr lang="en-US" sz="1000"/>
          </a:p>
          <a:p>
            <a:pPr>
              <a:lnSpc>
                <a:spcPct val="110000"/>
              </a:lnSpc>
            </a:pPr>
            <a:r>
              <a:rPr lang="en-US" sz="1000" b="1"/>
              <a:t>Azure Data Factory (ADF)</a:t>
            </a:r>
            <a:br>
              <a:rPr lang="en-US" sz="1000"/>
            </a:br>
            <a:r>
              <a:rPr lang="en-US" sz="1000"/>
              <a:t>ADF is the </a:t>
            </a:r>
            <a:r>
              <a:rPr lang="en-US" sz="1000" b="1"/>
              <a:t>orchestrator of data movement</a:t>
            </a:r>
            <a:r>
              <a:rPr lang="en-US" sz="1000"/>
              <a:t>. It listens for Event Grid triggers and:</a:t>
            </a:r>
          </a:p>
          <a:p>
            <a:pPr>
              <a:lnSpc>
                <a:spcPct val="110000"/>
              </a:lnSpc>
            </a:pPr>
            <a:r>
              <a:rPr lang="en-US" sz="1000"/>
              <a:t>Moves data through the pipeline</a:t>
            </a:r>
          </a:p>
          <a:p>
            <a:pPr>
              <a:lnSpc>
                <a:spcPct val="110000"/>
              </a:lnSpc>
            </a:pPr>
            <a:r>
              <a:rPr lang="en-US" sz="1000"/>
              <a:t>Handles scheduling, retries, and dependencies</a:t>
            </a:r>
          </a:p>
          <a:p>
            <a:pPr>
              <a:lnSpc>
                <a:spcPct val="110000"/>
              </a:lnSpc>
            </a:pPr>
            <a:r>
              <a:rPr lang="en-US" sz="1000"/>
              <a:t>Decides which processing path to follow (ontology, compliance, general knowledge)</a:t>
            </a:r>
          </a:p>
          <a:p>
            <a:pPr>
              <a:lnSpc>
                <a:spcPct val="110000"/>
              </a:lnSpc>
            </a:pPr>
            <a:r>
              <a:rPr lang="en-US" sz="1000" b="1"/>
              <a:t>Azure Functions / Databricks</a:t>
            </a:r>
            <a:br>
              <a:rPr lang="en-US" sz="1000"/>
            </a:br>
            <a:r>
              <a:rPr lang="en-US" sz="1000"/>
              <a:t>This is the </a:t>
            </a:r>
            <a:r>
              <a:rPr lang="en-US" sz="1000" b="1"/>
              <a:t>processing brain</a:t>
            </a:r>
            <a:r>
              <a:rPr lang="en-US" sz="1000"/>
              <a:t>:</a:t>
            </a:r>
          </a:p>
          <a:p>
            <a:pPr>
              <a:lnSpc>
                <a:spcPct val="110000"/>
              </a:lnSpc>
            </a:pPr>
            <a:r>
              <a:rPr lang="en-US" sz="1000"/>
              <a:t>Cleans and normalizes text</a:t>
            </a:r>
          </a:p>
          <a:p>
            <a:pPr>
              <a:lnSpc>
                <a:spcPct val="110000"/>
              </a:lnSpc>
            </a:pPr>
            <a:r>
              <a:rPr lang="en-US" sz="1000"/>
              <a:t>Chunks documents</a:t>
            </a:r>
          </a:p>
          <a:p>
            <a:pPr>
              <a:lnSpc>
                <a:spcPct val="110000"/>
              </a:lnSpc>
            </a:pPr>
            <a:r>
              <a:rPr lang="en-US" sz="1000"/>
              <a:t>Extracts metadata (source, type, version)</a:t>
            </a:r>
          </a:p>
          <a:p>
            <a:pPr>
              <a:lnSpc>
                <a:spcPct val="110000"/>
              </a:lnSpc>
            </a:pPr>
            <a:r>
              <a:rPr lang="en-US" sz="1000"/>
              <a:t>Separates content into ontology, compliance, or knowledge streams</a:t>
            </a:r>
          </a:p>
          <a:p>
            <a:pPr>
              <a:lnSpc>
                <a:spcPct val="110000"/>
              </a:lnSpc>
            </a:pPr>
            <a:r>
              <a:rPr lang="en-US" sz="1000"/>
              <a:t>Outputs:</a:t>
            </a:r>
          </a:p>
          <a:p>
            <a:pPr>
              <a:lnSpc>
                <a:spcPct val="110000"/>
              </a:lnSpc>
            </a:pPr>
            <a:r>
              <a:rPr lang="en-US" sz="1000"/>
              <a:t>Clean files → </a:t>
            </a:r>
            <a:r>
              <a:rPr lang="en-US" sz="1000" b="1"/>
              <a:t>Blob Storage (Processed)</a:t>
            </a:r>
            <a:endParaRPr lang="en-US" sz="1000"/>
          </a:p>
          <a:p>
            <a:pPr>
              <a:lnSpc>
                <a:spcPct val="110000"/>
              </a:lnSpc>
            </a:pPr>
            <a:r>
              <a:rPr lang="en-US" sz="1000"/>
              <a:t>Metadata → Cosmos DB / SQL</a:t>
            </a:r>
          </a:p>
          <a:p>
            <a:pPr>
              <a:lnSpc>
                <a:spcPct val="110000"/>
              </a:lnSpc>
            </a:pPr>
            <a:r>
              <a:rPr lang="en-US" sz="1000" b="1"/>
              <a:t>Embeddings via Azure OpenAI</a:t>
            </a:r>
            <a:br>
              <a:rPr lang="en-US" sz="1000"/>
            </a:br>
            <a:r>
              <a:rPr lang="en-US" sz="1000"/>
              <a:t>Processed text is converted into </a:t>
            </a:r>
            <a:r>
              <a:rPr lang="en-US" sz="1000" b="1"/>
              <a:t>vector embeddings</a:t>
            </a:r>
            <a:r>
              <a:rPr lang="en-US" sz="1000"/>
              <a:t>. These vectors represent semantic meaning and are written to </a:t>
            </a:r>
            <a:r>
              <a:rPr lang="en-US" sz="1000" b="1"/>
              <a:t>Azure AI Search indexes</a:t>
            </a:r>
            <a:r>
              <a:rPr lang="en-US" sz="1000"/>
              <a:t> for retrieval.</a:t>
            </a:r>
          </a:p>
          <a:p>
            <a:pPr>
              <a:lnSpc>
                <a:spcPct val="110000"/>
              </a:lnSpc>
            </a:pPr>
            <a:endParaRPr lang="en-US" sz="1000"/>
          </a:p>
        </p:txBody>
      </p:sp>
    </p:spTree>
    <p:extLst>
      <p:ext uri="{BB962C8B-B14F-4D97-AF65-F5344CB8AC3E}">
        <p14:creationId xmlns:p14="http://schemas.microsoft.com/office/powerpoint/2010/main" val="2140286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79E0AB-4092-2C96-FB16-BDE838FA925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98AE1-1B3C-3198-2B5E-BF7C96E179A2}"/>
              </a:ext>
            </a:extLst>
          </p:cNvPr>
          <p:cNvSpPr>
            <a:spLocks noGrp="1"/>
          </p:cNvSpPr>
          <p:nvPr>
            <p:ph type="title"/>
          </p:nvPr>
        </p:nvSpPr>
        <p:spPr>
          <a:xfrm>
            <a:off x="5568535" y="118872"/>
            <a:ext cx="5916168" cy="1024128"/>
          </a:xfrm>
        </p:spPr>
        <p:txBody>
          <a:bodyPr anchor="b">
            <a:normAutofit fontScale="90000"/>
          </a:bodyPr>
          <a:lstStyle/>
          <a:p>
            <a:r>
              <a:rPr lang="en-US" dirty="0"/>
              <a:t>How the Observability + Security Plane Works</a:t>
            </a:r>
          </a:p>
        </p:txBody>
      </p:sp>
      <p:pic>
        <p:nvPicPr>
          <p:cNvPr id="5" name="Picture 4" descr="Eye exam equipment">
            <a:extLst>
              <a:ext uri="{FF2B5EF4-FFF2-40B4-BE49-F238E27FC236}">
                <a16:creationId xmlns:a16="http://schemas.microsoft.com/office/drawing/2014/main" id="{3D639A65-F86C-9BB4-9BF3-BA8CE3BB1AFF}"/>
              </a:ext>
            </a:extLst>
          </p:cNvPr>
          <p:cNvPicPr>
            <a:picLocks noChangeAspect="1"/>
          </p:cNvPicPr>
          <p:nvPr/>
        </p:nvPicPr>
        <p:blipFill>
          <a:blip r:embed="rId2"/>
          <a:srcRect l="40403" r="19322"/>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56CA63AB-9F8C-F164-249A-1B2B2A78B80D}"/>
              </a:ext>
            </a:extLst>
          </p:cNvPr>
          <p:cNvSpPr>
            <a:spLocks noGrp="1"/>
          </p:cNvSpPr>
          <p:nvPr>
            <p:ph idx="1"/>
          </p:nvPr>
        </p:nvSpPr>
        <p:spPr>
          <a:xfrm>
            <a:off x="5221224" y="1143000"/>
            <a:ext cx="6693407" cy="5166360"/>
          </a:xfrm>
        </p:spPr>
        <p:txBody>
          <a:bodyPr>
            <a:normAutofit/>
          </a:bodyPr>
          <a:lstStyle/>
          <a:p>
            <a:pPr>
              <a:lnSpc>
                <a:spcPct val="110000"/>
              </a:lnSpc>
            </a:pPr>
            <a:r>
              <a:rPr lang="en-US" sz="1100" b="1" dirty="0"/>
              <a:t>Azure Key Vault</a:t>
            </a:r>
            <a:br>
              <a:rPr lang="en-US" sz="1100" dirty="0"/>
            </a:br>
            <a:r>
              <a:rPr lang="en-US" sz="1100" dirty="0"/>
              <a:t>Key Vault is your </a:t>
            </a:r>
            <a:r>
              <a:rPr lang="en-US" sz="1100" b="1" dirty="0"/>
              <a:t>vault of secrets</a:t>
            </a:r>
            <a:r>
              <a:rPr lang="en-US" sz="1100" dirty="0"/>
              <a:t>. It securely stores API keys, connection strings, certificates, and model credentials so nothing sensitive is hard-coded or exposed to services accessing Blob Storage or downstream systems.</a:t>
            </a:r>
          </a:p>
          <a:p>
            <a:pPr>
              <a:lnSpc>
                <a:spcPct val="110000"/>
              </a:lnSpc>
            </a:pPr>
            <a:r>
              <a:rPr lang="en-US" sz="1100" b="1" dirty="0"/>
              <a:t>App Insights + </a:t>
            </a:r>
            <a:r>
              <a:rPr lang="en-US" sz="1100" b="1" dirty="0" err="1"/>
              <a:t>OpenTelemetry</a:t>
            </a:r>
            <a:br>
              <a:rPr lang="en-US" sz="1100" dirty="0"/>
            </a:br>
            <a:r>
              <a:rPr lang="en-US" sz="1100" dirty="0"/>
              <a:t>This is your </a:t>
            </a:r>
            <a:r>
              <a:rPr lang="en-US" sz="1100" b="1" dirty="0"/>
              <a:t>real-time visibility layer</a:t>
            </a:r>
            <a:r>
              <a:rPr lang="en-US" sz="1100" dirty="0"/>
              <a:t>. It traces requests end-to-end—from ingestion, to agents, to LLM calls—capturing latency, failures, dependencies, and custom metrics across the pipeline.</a:t>
            </a:r>
          </a:p>
          <a:p>
            <a:pPr>
              <a:lnSpc>
                <a:spcPct val="110000"/>
              </a:lnSpc>
            </a:pPr>
            <a:r>
              <a:rPr lang="en-US" sz="1100" b="1" dirty="0"/>
              <a:t>Log Analytics Workspace</a:t>
            </a:r>
            <a:br>
              <a:rPr lang="en-US" sz="1100" dirty="0"/>
            </a:br>
            <a:r>
              <a:rPr lang="en-US" sz="1100" dirty="0"/>
              <a:t>This is the </a:t>
            </a:r>
            <a:r>
              <a:rPr lang="en-US" sz="1100" b="1" dirty="0"/>
              <a:t>central log warehouse</a:t>
            </a:r>
            <a:r>
              <a:rPr lang="en-US" sz="1100" dirty="0"/>
              <a:t>. All logs, metrics, and traces from ingestion jobs, storage access, agents, and LLM calls land here for querying, auditing, and alerting.</a:t>
            </a:r>
          </a:p>
          <a:p>
            <a:pPr>
              <a:lnSpc>
                <a:spcPct val="110000"/>
              </a:lnSpc>
            </a:pPr>
            <a:r>
              <a:rPr lang="en-US" sz="1100" b="1" dirty="0"/>
              <a:t>Microsoft Purview</a:t>
            </a:r>
            <a:br>
              <a:rPr lang="en-US" sz="1100" dirty="0"/>
            </a:br>
            <a:r>
              <a:rPr lang="en-US" sz="1100" dirty="0" err="1"/>
              <a:t>Purview</a:t>
            </a:r>
            <a:r>
              <a:rPr lang="en-US" sz="1100" dirty="0"/>
              <a:t> is your </a:t>
            </a:r>
            <a:r>
              <a:rPr lang="en-US" sz="1100" b="1" dirty="0"/>
              <a:t>data governance and compliance brain</a:t>
            </a:r>
            <a:r>
              <a:rPr lang="en-US" sz="1100" dirty="0"/>
              <a:t>. It scans Blob Storage (Raw and Processed), tracks lineage, classifies sensitive data, and enforces policies like retention, access control, and regulatory compliance.</a:t>
            </a:r>
            <a:br>
              <a:rPr lang="en-US" sz="1100" dirty="0"/>
            </a:br>
            <a:endParaRPr lang="en-US" sz="1100" dirty="0"/>
          </a:p>
          <a:p>
            <a:pPr>
              <a:lnSpc>
                <a:spcPct val="110000"/>
              </a:lnSpc>
            </a:pPr>
            <a:r>
              <a:rPr lang="en-US" sz="1100" b="1" dirty="0"/>
              <a:t>How Blob Storage fits in</a:t>
            </a:r>
          </a:p>
          <a:p>
            <a:pPr>
              <a:lnSpc>
                <a:spcPct val="110000"/>
              </a:lnSpc>
            </a:pPr>
            <a:r>
              <a:rPr lang="en-US" sz="1100" b="1" dirty="0"/>
              <a:t>Raw Blob Storage</a:t>
            </a:r>
            <a:r>
              <a:rPr lang="en-US" sz="1100" dirty="0"/>
              <a:t>: monitored, classified, and governed by Purview</a:t>
            </a:r>
          </a:p>
          <a:p>
            <a:pPr>
              <a:lnSpc>
                <a:spcPct val="110000"/>
              </a:lnSpc>
            </a:pPr>
            <a:r>
              <a:rPr lang="en-US" sz="1100" b="1" dirty="0"/>
              <a:t>Processed Blob Storage</a:t>
            </a:r>
            <a:r>
              <a:rPr lang="en-US" sz="1100" dirty="0"/>
              <a:t>: lineage tracked from raw → processed → embedded</a:t>
            </a:r>
          </a:p>
          <a:p>
            <a:pPr>
              <a:lnSpc>
                <a:spcPct val="110000"/>
              </a:lnSpc>
            </a:pPr>
            <a:r>
              <a:rPr lang="en-US" sz="1100" dirty="0"/>
              <a:t>All access is logged, audited, and observable end-to-end</a:t>
            </a:r>
          </a:p>
          <a:p>
            <a:pPr>
              <a:lnSpc>
                <a:spcPct val="110000"/>
              </a:lnSpc>
            </a:pPr>
            <a:endParaRPr lang="en-US" sz="700" dirty="0"/>
          </a:p>
        </p:txBody>
      </p:sp>
    </p:spTree>
    <p:extLst>
      <p:ext uri="{BB962C8B-B14F-4D97-AF65-F5344CB8AC3E}">
        <p14:creationId xmlns:p14="http://schemas.microsoft.com/office/powerpoint/2010/main" val="386975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87A38-8FD2-B144-2DC4-8ED901104A4A}"/>
              </a:ext>
            </a:extLst>
          </p:cNvPr>
          <p:cNvSpPr>
            <a:spLocks noGrp="1"/>
          </p:cNvSpPr>
          <p:nvPr>
            <p:ph type="title"/>
          </p:nvPr>
        </p:nvSpPr>
        <p:spPr>
          <a:xfrm>
            <a:off x="612648" y="600074"/>
            <a:ext cx="6035040" cy="1529932"/>
          </a:xfrm>
        </p:spPr>
        <p:txBody>
          <a:bodyPr anchor="b">
            <a:normAutofit/>
          </a:bodyPr>
          <a:lstStyle/>
          <a:p>
            <a:r>
              <a:rPr lang="en-US" dirty="0"/>
              <a:t>Key Vault</a:t>
            </a:r>
          </a:p>
        </p:txBody>
      </p:sp>
      <p:sp>
        <p:nvSpPr>
          <p:cNvPr id="4" name="Rectangle 1">
            <a:extLst>
              <a:ext uri="{FF2B5EF4-FFF2-40B4-BE49-F238E27FC236}">
                <a16:creationId xmlns:a16="http://schemas.microsoft.com/office/drawing/2014/main" id="{FC11CBF5-1D55-9FA3-3F53-8B7ECC3D1101}"/>
              </a:ext>
            </a:extLst>
          </p:cNvPr>
          <p:cNvSpPr>
            <a:spLocks noGrp="1" noChangeArrowheads="1"/>
          </p:cNvSpPr>
          <p:nvPr>
            <p:ph idx="1"/>
          </p:nvPr>
        </p:nvSpPr>
        <p:spPr bwMode="auto">
          <a:xfrm>
            <a:off x="612647" y="2212848"/>
            <a:ext cx="6035041" cy="40965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Purpose</a:t>
            </a:r>
            <a:r>
              <a:rPr kumimoji="0" lang="en-US" altLang="en-US" sz="1500" b="0" i="0" u="none" strike="noStrike" cap="none" normalizeH="0" baseline="0" dirty="0">
                <a:ln>
                  <a:noFill/>
                </a:ln>
                <a:effectLst/>
                <a:latin typeface="Arial" panose="020B0604020202020204" pitchFamily="34" charset="0"/>
              </a:rPr>
              <a:t>: Centralized secrets management and cryptographic key storage </a:t>
            </a:r>
          </a:p>
          <a:p>
            <a:pPr marL="0" marR="0" lvl="0" indent="0" defTabSz="914400" rtl="0" eaLnBrk="0" fontAlgn="base" latinLnBrk="0" hangingPunct="0">
              <a:lnSpc>
                <a:spcPct val="110000"/>
              </a:lnSpc>
              <a:spcBef>
                <a:spcPct val="0"/>
              </a:spcBef>
              <a:spcAft>
                <a:spcPts val="600"/>
              </a:spcAft>
              <a:buClrTx/>
              <a:buSzTx/>
              <a:buNone/>
              <a:tabLst/>
            </a:pPr>
            <a:endParaRPr kumimoji="0" lang="en-US" altLang="en-US" sz="15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None/>
              <a:tabLst/>
            </a:pPr>
            <a:endParaRPr lang="en-US" altLang="en-US" sz="1500" b="1" dirty="0">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None/>
              <a:tabLst/>
            </a:pPr>
            <a:r>
              <a:rPr kumimoji="0" lang="en-US" altLang="en-US" sz="1500" b="1" i="0" u="none" strike="noStrike" cap="none" normalizeH="0" baseline="0" dirty="0">
                <a:ln>
                  <a:noFill/>
                </a:ln>
                <a:effectLst/>
                <a:latin typeface="Arial" panose="020B0604020202020204" pitchFamily="34" charset="0"/>
              </a:rPr>
              <a:t>Functions</a:t>
            </a:r>
            <a:r>
              <a:rPr kumimoji="0" lang="en-US" altLang="en-US" sz="15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lnSpc>
                <a:spcPct val="110000"/>
              </a:lnSpc>
              <a:spcBef>
                <a:spcPct val="0"/>
              </a:spcBef>
              <a:spcAft>
                <a:spcPts val="600"/>
              </a:spcAft>
              <a:buClrTx/>
              <a:buSzTx/>
              <a:buNone/>
              <a:tabLst/>
            </a:pP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Stores API keys, connection strings, and certificates securely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Manages encryption keys for data at rest and in transit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Provides access control with managed identities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Enables secrets rotation and versioning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Integrates with all Azure services requiring credentials</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500" b="0" i="0" u="none" strike="noStrike" cap="none" normalizeH="0" baseline="0" dirty="0">
              <a:ln>
                <a:noFill/>
              </a:ln>
              <a:effectLst/>
              <a:latin typeface="Arial" panose="020B0604020202020204" pitchFamily="34" charset="0"/>
            </a:endParaRPr>
          </a:p>
        </p:txBody>
      </p:sp>
      <p:pic>
        <p:nvPicPr>
          <p:cNvPr id="6" name="Picture 5" descr="Circuit board background">
            <a:extLst>
              <a:ext uri="{FF2B5EF4-FFF2-40B4-BE49-F238E27FC236}">
                <a16:creationId xmlns:a16="http://schemas.microsoft.com/office/drawing/2014/main" id="{BBA04DFD-5C08-C683-F28F-C68336889B87}"/>
              </a:ext>
            </a:extLst>
          </p:cNvPr>
          <p:cNvPicPr>
            <a:picLocks noChangeAspect="1"/>
          </p:cNvPicPr>
          <p:nvPr/>
        </p:nvPicPr>
        <p:blipFill>
          <a:blip r:embed="rId2"/>
          <a:srcRect l="9280" r="43727"/>
          <a:stretch>
            <a:fillRect/>
          </a:stretch>
        </p:blipFill>
        <p:spPr>
          <a:xfrm>
            <a:off x="7345680" y="10"/>
            <a:ext cx="4846320" cy="6857990"/>
          </a:xfrm>
          <a:prstGeom prst="rect">
            <a:avLst/>
          </a:prstGeom>
        </p:spPr>
      </p:pic>
    </p:spTree>
    <p:extLst>
      <p:ext uri="{BB962C8B-B14F-4D97-AF65-F5344CB8AC3E}">
        <p14:creationId xmlns:p14="http://schemas.microsoft.com/office/powerpoint/2010/main" val="1301484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E27F76-ED6A-8D19-ADE4-09B2891C8FD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180F1D-C557-3E0D-E472-221C4B17C929}"/>
              </a:ext>
            </a:extLst>
          </p:cNvPr>
          <p:cNvSpPr>
            <a:spLocks noGrp="1"/>
          </p:cNvSpPr>
          <p:nvPr>
            <p:ph type="title"/>
          </p:nvPr>
        </p:nvSpPr>
        <p:spPr>
          <a:xfrm>
            <a:off x="614679" y="548640"/>
            <a:ext cx="4779572" cy="2067705"/>
          </a:xfrm>
        </p:spPr>
        <p:txBody>
          <a:bodyPr anchor="t">
            <a:normAutofit/>
          </a:bodyPr>
          <a:lstStyle/>
          <a:p>
            <a:r>
              <a:rPr lang="en-US" dirty="0"/>
              <a:t>Entra ID (formerly Azure Active Directory)</a:t>
            </a:r>
          </a:p>
        </p:txBody>
      </p:sp>
      <p:pic>
        <p:nvPicPr>
          <p:cNvPr id="8" name="Graphic 7" descr="Key">
            <a:extLst>
              <a:ext uri="{FF2B5EF4-FFF2-40B4-BE49-F238E27FC236}">
                <a16:creationId xmlns:a16="http://schemas.microsoft.com/office/drawing/2014/main" id="{1BE527E1-C3C7-1771-77DB-C0D53D6BF3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520" y="2976281"/>
            <a:ext cx="3333077" cy="3333077"/>
          </a:xfrm>
          <a:prstGeom prst="rect">
            <a:avLst/>
          </a:prstGeom>
        </p:spPr>
      </p:pic>
      <p:sp>
        <p:nvSpPr>
          <p:cNvPr id="4" name="Rectangle 1">
            <a:extLst>
              <a:ext uri="{FF2B5EF4-FFF2-40B4-BE49-F238E27FC236}">
                <a16:creationId xmlns:a16="http://schemas.microsoft.com/office/drawing/2014/main" id="{A7ED917B-BE27-0331-5C74-BE8EDCA6A6CB}"/>
              </a:ext>
            </a:extLst>
          </p:cNvPr>
          <p:cNvSpPr>
            <a:spLocks noGrp="1" noChangeArrowheads="1"/>
          </p:cNvSpPr>
          <p:nvPr>
            <p:ph idx="1"/>
          </p:nvPr>
        </p:nvSpPr>
        <p:spPr bwMode="auto">
          <a:xfrm>
            <a:off x="6030551" y="548638"/>
            <a:ext cx="5546770" cy="5760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ct val="0"/>
              </a:spcAft>
              <a:buFontTx/>
              <a:buChar char="•"/>
            </a:pPr>
            <a:r>
              <a:rPr kumimoji="0" lang="en-US" altLang="en-US" sz="1800" b="1" i="0" u="none" strike="noStrike" cap="none" normalizeH="0" baseline="0">
                <a:ln>
                  <a:noFill/>
                </a:ln>
                <a:effectLst/>
                <a:latin typeface="Arial" panose="020B0604020202020204" pitchFamily="34" charset="0"/>
              </a:rPr>
              <a:t>Purpose</a:t>
            </a:r>
            <a:r>
              <a:rPr kumimoji="0" lang="en-US" altLang="en-US" sz="1800" b="0" i="0" u="none" strike="noStrike" cap="none" normalizeH="0" baseline="0">
                <a:ln>
                  <a:noFill/>
                </a:ln>
                <a:effectLst/>
                <a:latin typeface="Arial" panose="020B0604020202020204" pitchFamily="34" charset="0"/>
              </a:rPr>
              <a:t>: </a:t>
            </a:r>
            <a:r>
              <a:rPr lang="en-US" sz="1800"/>
              <a:t>Identity and access management</a:t>
            </a:r>
            <a:endParaRPr kumimoji="0" lang="en-US" altLang="en-US" sz="18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endParaRPr kumimoji="0" lang="en-US" altLang="en-US" sz="1800" b="1"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endParaRPr lang="en-US" altLang="en-US" sz="1800" b="1">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800" b="1" i="0" u="none" strike="noStrike" cap="none" normalizeH="0" baseline="0">
                <a:ln>
                  <a:noFill/>
                </a:ln>
                <a:effectLst/>
                <a:latin typeface="Arial" panose="020B0604020202020204" pitchFamily="34" charset="0"/>
              </a:rPr>
              <a:t>Functions</a:t>
            </a:r>
            <a:r>
              <a:rPr kumimoji="0" lang="en-US" altLang="en-US" sz="1800" b="0" i="0" u="none" strike="noStrike" cap="none" normalizeH="0" baseline="0">
                <a:ln>
                  <a:noFill/>
                </a:ln>
                <a:effectLst/>
                <a:latin typeface="Arial" panose="020B0604020202020204" pitchFamily="34" charset="0"/>
              </a:rPr>
              <a:t>: </a:t>
            </a:r>
          </a:p>
          <a:p>
            <a:pPr marL="0" marR="0" lvl="0" indent="0" defTabSz="914400" rtl="0" eaLnBrk="0" fontAlgn="base" latinLnBrk="0" hangingPunct="0">
              <a:spcBef>
                <a:spcPct val="0"/>
              </a:spcBef>
              <a:spcAft>
                <a:spcPct val="0"/>
              </a:spcAft>
              <a:buClrTx/>
              <a:buSzTx/>
              <a:buNone/>
              <a:tabLst/>
            </a:pPr>
            <a:endParaRPr lang="en-US" altLang="en-US" sz="1800">
              <a:latin typeface="Arial" panose="020B0604020202020204" pitchFamily="34" charset="0"/>
            </a:endParaRPr>
          </a:p>
          <a:p>
            <a:r>
              <a:rPr lang="en-US" sz="1800" dirty="0"/>
              <a:t>Authenticates users and service principals</a:t>
            </a:r>
          </a:p>
          <a:p>
            <a:r>
              <a:rPr lang="en-US" sz="1800" dirty="0"/>
              <a:t>Enforces role-based access control (RBAC)</a:t>
            </a:r>
          </a:p>
          <a:p>
            <a:r>
              <a:rPr lang="en-US" sz="1800" dirty="0"/>
              <a:t>Manages multi-factor authentication (MFA)</a:t>
            </a:r>
          </a:p>
          <a:p>
            <a:r>
              <a:rPr lang="en-US" sz="1800" dirty="0"/>
              <a:t>Provides conditional access policies</a:t>
            </a:r>
          </a:p>
          <a:p>
            <a:r>
              <a:rPr lang="en-US" sz="1800" dirty="0"/>
              <a:t>Enables single sign-on (SSO) across services</a:t>
            </a:r>
          </a:p>
          <a:p>
            <a:r>
              <a:rPr lang="en-US" sz="1800" dirty="0"/>
              <a:t>Manages service-to-service authentication via managed identities</a:t>
            </a:r>
            <a:endParaRPr kumimoji="0" lang="en-US" altLang="en-US" sz="18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endParaRPr kumimoji="0" lang="en-US" altLang="en-US" sz="18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537322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E72CC-A90F-DF2B-BD87-6A626E604C05}"/>
              </a:ext>
            </a:extLst>
          </p:cNvPr>
          <p:cNvSpPr>
            <a:spLocks noGrp="1"/>
          </p:cNvSpPr>
          <p:nvPr>
            <p:ph type="title"/>
          </p:nvPr>
        </p:nvSpPr>
        <p:spPr>
          <a:xfrm>
            <a:off x="612648" y="600074"/>
            <a:ext cx="6035040" cy="1529932"/>
          </a:xfrm>
        </p:spPr>
        <p:txBody>
          <a:bodyPr anchor="b">
            <a:normAutofit/>
          </a:bodyPr>
          <a:lstStyle/>
          <a:p>
            <a:r>
              <a:rPr lang="en-US" dirty="0"/>
              <a:t>Microsoft Purview</a:t>
            </a:r>
          </a:p>
        </p:txBody>
      </p:sp>
      <p:sp>
        <p:nvSpPr>
          <p:cNvPr id="4" name="Rectangle 1">
            <a:extLst>
              <a:ext uri="{FF2B5EF4-FFF2-40B4-BE49-F238E27FC236}">
                <a16:creationId xmlns:a16="http://schemas.microsoft.com/office/drawing/2014/main" id="{B78445C0-F61B-0CC4-4D11-9633CE8E5222}"/>
              </a:ext>
            </a:extLst>
          </p:cNvPr>
          <p:cNvSpPr>
            <a:spLocks noGrp="1" noChangeArrowheads="1"/>
          </p:cNvSpPr>
          <p:nvPr>
            <p:ph idx="1"/>
          </p:nvPr>
        </p:nvSpPr>
        <p:spPr bwMode="auto">
          <a:xfrm>
            <a:off x="612647" y="2212848"/>
            <a:ext cx="6035041" cy="40965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a:ln>
                  <a:noFill/>
                </a:ln>
                <a:effectLst/>
                <a:latin typeface="Arial" panose="020B0604020202020204" pitchFamily="34" charset="0"/>
              </a:rPr>
              <a:t>Purpose</a:t>
            </a:r>
            <a:r>
              <a:rPr kumimoji="0" lang="en-US" altLang="en-US" sz="1700" b="0" i="0" u="none" strike="noStrike" cap="none" normalizeH="0" baseline="0">
                <a:ln>
                  <a:noFill/>
                </a:ln>
                <a:effectLst/>
                <a:latin typeface="Arial" panose="020B0604020202020204" pitchFamily="34" charset="0"/>
              </a:rPr>
              <a:t>: Unified data governance and compliance </a:t>
            </a:r>
          </a:p>
          <a:p>
            <a:r>
              <a:rPr lang="en-US" sz="1700" b="1"/>
              <a:t>Functions</a:t>
            </a:r>
            <a:r>
              <a:rPr lang="en-US" sz="1700"/>
              <a:t>: Data cataloging and discovery across the multi-agent system</a:t>
            </a:r>
          </a:p>
          <a:p>
            <a:r>
              <a:rPr lang="en-US" sz="1700"/>
              <a:t>Data lineage tracking (from ingestion through to output)</a:t>
            </a:r>
          </a:p>
          <a:p>
            <a:r>
              <a:rPr lang="en-US" sz="1700"/>
              <a:t>Compliance scanning and classification (PII, PHI, sensitive data)</a:t>
            </a:r>
          </a:p>
          <a:p>
            <a:r>
              <a:rPr lang="en-US" sz="1700"/>
              <a:t>Data quality monitoring and validation</a:t>
            </a:r>
          </a:p>
          <a:p>
            <a:r>
              <a:rPr lang="en-US" sz="1700"/>
              <a:t>Policy enforcement for data retention and access</a:t>
            </a:r>
          </a:p>
          <a:p>
            <a:r>
              <a:rPr lang="en-US" sz="1700"/>
              <a:t>Audit trails for regulatory compliance (GDPR, HIPAA, etc.)</a:t>
            </a:r>
          </a:p>
          <a:p>
            <a:pPr marL="0" marR="0" lvl="0" indent="0" defTabSz="914400" rtl="0" eaLnBrk="0" fontAlgn="base" latinLnBrk="0" hangingPunct="0">
              <a:spcBef>
                <a:spcPct val="0"/>
              </a:spcBef>
              <a:spcAft>
                <a:spcPct val="0"/>
              </a:spcAft>
              <a:buClrTx/>
              <a:buSzTx/>
              <a:buNone/>
              <a:tabLst/>
            </a:pPr>
            <a:endParaRPr kumimoji="0" lang="en-US" altLang="en-US"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endParaRPr kumimoji="0" lang="en-US" altLang="en-US" sz="1700" b="0" i="0" u="none" strike="noStrike" cap="none" normalizeH="0" baseline="0">
              <a:ln>
                <a:noFill/>
              </a:ln>
              <a:effectLst/>
              <a:latin typeface="Arial" panose="020B0604020202020204" pitchFamily="34" charset="0"/>
            </a:endParaRPr>
          </a:p>
        </p:txBody>
      </p:sp>
      <p:pic>
        <p:nvPicPr>
          <p:cNvPr id="6" name="Picture 5" descr="An abstract design with lines and financial symbols">
            <a:extLst>
              <a:ext uri="{FF2B5EF4-FFF2-40B4-BE49-F238E27FC236}">
                <a16:creationId xmlns:a16="http://schemas.microsoft.com/office/drawing/2014/main" id="{F26EA7C6-CBCC-9623-0245-45DC3E99E9BA}"/>
              </a:ext>
            </a:extLst>
          </p:cNvPr>
          <p:cNvPicPr>
            <a:picLocks noChangeAspect="1"/>
          </p:cNvPicPr>
          <p:nvPr/>
        </p:nvPicPr>
        <p:blipFill>
          <a:blip r:embed="rId2"/>
          <a:srcRect l="26058" r="26949"/>
          <a:stretch>
            <a:fillRect/>
          </a:stretch>
        </p:blipFill>
        <p:spPr>
          <a:xfrm>
            <a:off x="7345680" y="10"/>
            <a:ext cx="4846320" cy="6857990"/>
          </a:xfrm>
          <a:prstGeom prst="rect">
            <a:avLst/>
          </a:prstGeom>
        </p:spPr>
      </p:pic>
    </p:spTree>
    <p:extLst>
      <p:ext uri="{BB962C8B-B14F-4D97-AF65-F5344CB8AC3E}">
        <p14:creationId xmlns:p14="http://schemas.microsoft.com/office/powerpoint/2010/main" val="2476622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C666D6-540E-D834-49C3-52E383190007}"/>
              </a:ext>
            </a:extLst>
          </p:cNvPr>
          <p:cNvSpPr>
            <a:spLocks noGrp="1"/>
          </p:cNvSpPr>
          <p:nvPr>
            <p:ph type="title"/>
          </p:nvPr>
        </p:nvSpPr>
        <p:spPr>
          <a:xfrm>
            <a:off x="5568534" y="603504"/>
            <a:ext cx="5916169" cy="1527048"/>
          </a:xfrm>
        </p:spPr>
        <p:txBody>
          <a:bodyPr anchor="b">
            <a:normAutofit/>
          </a:bodyPr>
          <a:lstStyle/>
          <a:p>
            <a:r>
              <a:rPr lang="en-US" dirty="0"/>
              <a:t>App Insights + </a:t>
            </a:r>
            <a:r>
              <a:rPr lang="en-US" dirty="0" err="1"/>
              <a:t>OpenTelemetry</a:t>
            </a:r>
            <a:endParaRPr lang="en-US" dirty="0"/>
          </a:p>
        </p:txBody>
      </p:sp>
      <p:pic>
        <p:nvPicPr>
          <p:cNvPr id="5" name="Picture 4" descr="Digital financial graph">
            <a:extLst>
              <a:ext uri="{FF2B5EF4-FFF2-40B4-BE49-F238E27FC236}">
                <a16:creationId xmlns:a16="http://schemas.microsoft.com/office/drawing/2014/main" id="{75CFAC24-AEDE-B1F6-7B0A-9F6E02FAC962}"/>
              </a:ext>
            </a:extLst>
          </p:cNvPr>
          <p:cNvPicPr>
            <a:picLocks noChangeAspect="1"/>
          </p:cNvPicPr>
          <p:nvPr/>
        </p:nvPicPr>
        <p:blipFill>
          <a:blip r:embed="rId2"/>
          <a:srcRect l="37506" r="22219"/>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F1012F10-F9F7-F77F-6833-B77E19F96A58}"/>
              </a:ext>
            </a:extLst>
          </p:cNvPr>
          <p:cNvSpPr>
            <a:spLocks noGrp="1"/>
          </p:cNvSpPr>
          <p:nvPr>
            <p:ph idx="1"/>
          </p:nvPr>
        </p:nvSpPr>
        <p:spPr>
          <a:xfrm>
            <a:off x="5568533" y="2214282"/>
            <a:ext cx="5916169" cy="4095078"/>
          </a:xfrm>
        </p:spPr>
        <p:txBody>
          <a:bodyPr>
            <a:normAutofit/>
          </a:bodyPr>
          <a:lstStyle/>
          <a:p>
            <a:pPr>
              <a:lnSpc>
                <a:spcPct val="110000"/>
              </a:lnSpc>
            </a:pPr>
            <a:r>
              <a:rPr lang="en-US" sz="1500" b="1"/>
              <a:t>Purpose</a:t>
            </a:r>
            <a:r>
              <a:rPr lang="en-US" sz="1500"/>
              <a:t>: Application performance monitoring and distributed tracing</a:t>
            </a:r>
          </a:p>
          <a:p>
            <a:pPr>
              <a:lnSpc>
                <a:spcPct val="110000"/>
              </a:lnSpc>
            </a:pPr>
            <a:r>
              <a:rPr lang="en-US" sz="1500" b="1"/>
              <a:t>Functions</a:t>
            </a:r>
            <a:r>
              <a:rPr lang="en-US" sz="1500"/>
              <a:t>: Tracks request/response times across all agents</a:t>
            </a:r>
          </a:p>
          <a:p>
            <a:pPr>
              <a:lnSpc>
                <a:spcPct val="110000"/>
              </a:lnSpc>
            </a:pPr>
            <a:r>
              <a:rPr lang="en-US" sz="1500"/>
              <a:t>Monitors LLM API calls and token usage</a:t>
            </a:r>
          </a:p>
          <a:p>
            <a:pPr>
              <a:lnSpc>
                <a:spcPct val="110000"/>
              </a:lnSpc>
            </a:pPr>
            <a:r>
              <a:rPr lang="en-US" sz="1500"/>
              <a:t>Distributed tracing of multi-agent workflows</a:t>
            </a:r>
          </a:p>
          <a:p>
            <a:pPr>
              <a:lnSpc>
                <a:spcPct val="110000"/>
              </a:lnSpc>
            </a:pPr>
            <a:r>
              <a:rPr lang="en-US" sz="1500"/>
              <a:t>Exception tracking and error analysis</a:t>
            </a:r>
          </a:p>
          <a:p>
            <a:pPr>
              <a:lnSpc>
                <a:spcPct val="110000"/>
              </a:lnSpc>
            </a:pPr>
            <a:r>
              <a:rPr lang="en-US" sz="1500"/>
              <a:t>Custom metrics for agent performance</a:t>
            </a:r>
          </a:p>
          <a:p>
            <a:pPr>
              <a:lnSpc>
                <a:spcPct val="110000"/>
              </a:lnSpc>
            </a:pPr>
            <a:r>
              <a:rPr lang="en-US" sz="1500"/>
              <a:t>Real-time telemetry collection using OpenTelemetry standards</a:t>
            </a:r>
          </a:p>
          <a:p>
            <a:pPr>
              <a:lnSpc>
                <a:spcPct val="110000"/>
              </a:lnSpc>
            </a:pPr>
            <a:r>
              <a:rPr lang="en-US" sz="1500"/>
              <a:t>Correlation IDs for end-to-end transaction tracking</a:t>
            </a:r>
          </a:p>
          <a:p>
            <a:pPr>
              <a:lnSpc>
                <a:spcPct val="110000"/>
              </a:lnSpc>
            </a:pPr>
            <a:endParaRPr lang="en-US" sz="1500"/>
          </a:p>
        </p:txBody>
      </p:sp>
    </p:spTree>
    <p:extLst>
      <p:ext uri="{BB962C8B-B14F-4D97-AF65-F5344CB8AC3E}">
        <p14:creationId xmlns:p14="http://schemas.microsoft.com/office/powerpoint/2010/main" val="2463328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F4CA55-BB9D-2012-405A-8E8AC743A5A6}"/>
              </a:ext>
            </a:extLst>
          </p:cNvPr>
          <p:cNvSpPr>
            <a:spLocks noGrp="1"/>
          </p:cNvSpPr>
          <p:nvPr>
            <p:ph type="title"/>
          </p:nvPr>
        </p:nvSpPr>
        <p:spPr>
          <a:xfrm>
            <a:off x="612648" y="600074"/>
            <a:ext cx="6035040" cy="1529932"/>
          </a:xfrm>
        </p:spPr>
        <p:txBody>
          <a:bodyPr anchor="b">
            <a:normAutofit/>
          </a:bodyPr>
          <a:lstStyle/>
          <a:p>
            <a:r>
              <a:rPr lang="en-US" dirty="0"/>
              <a:t>Azure Monitor</a:t>
            </a:r>
          </a:p>
        </p:txBody>
      </p:sp>
      <p:sp>
        <p:nvSpPr>
          <p:cNvPr id="3" name="Content Placeholder 2">
            <a:extLst>
              <a:ext uri="{FF2B5EF4-FFF2-40B4-BE49-F238E27FC236}">
                <a16:creationId xmlns:a16="http://schemas.microsoft.com/office/drawing/2014/main" id="{95E7DED1-0702-F112-962B-564D63D11F47}"/>
              </a:ext>
            </a:extLst>
          </p:cNvPr>
          <p:cNvSpPr>
            <a:spLocks noGrp="1"/>
          </p:cNvSpPr>
          <p:nvPr>
            <p:ph idx="1"/>
          </p:nvPr>
        </p:nvSpPr>
        <p:spPr>
          <a:xfrm>
            <a:off x="612647" y="2212848"/>
            <a:ext cx="6035041" cy="4096512"/>
          </a:xfrm>
        </p:spPr>
        <p:txBody>
          <a:bodyPr>
            <a:normAutofit/>
          </a:bodyPr>
          <a:lstStyle/>
          <a:p>
            <a:pPr>
              <a:lnSpc>
                <a:spcPct val="110000"/>
              </a:lnSpc>
            </a:pPr>
            <a:r>
              <a:rPr lang="en-US" sz="1700" b="1"/>
              <a:t>Purpose</a:t>
            </a:r>
            <a:r>
              <a:rPr lang="en-US" sz="1700"/>
              <a:t>: Comprehensive monitoring and alerting platform</a:t>
            </a:r>
          </a:p>
          <a:p>
            <a:pPr>
              <a:lnSpc>
                <a:spcPct val="110000"/>
              </a:lnSpc>
            </a:pPr>
            <a:r>
              <a:rPr lang="en-US" sz="1700" b="1"/>
              <a:t>Functions</a:t>
            </a:r>
            <a:r>
              <a:rPr lang="en-US" sz="1700"/>
              <a:t>: Aggregates logs from all components</a:t>
            </a:r>
          </a:p>
          <a:p>
            <a:pPr>
              <a:lnSpc>
                <a:spcPct val="110000"/>
              </a:lnSpc>
            </a:pPr>
            <a:r>
              <a:rPr lang="en-US" sz="1700"/>
              <a:t>Infrastructure monitoring (CPU, memory, network)</a:t>
            </a:r>
          </a:p>
          <a:p>
            <a:pPr>
              <a:lnSpc>
                <a:spcPct val="110000"/>
              </a:lnSpc>
            </a:pPr>
            <a:r>
              <a:rPr lang="en-US" sz="1700"/>
              <a:t>Custom alerts and notifications</a:t>
            </a:r>
          </a:p>
          <a:p>
            <a:pPr>
              <a:lnSpc>
                <a:spcPct val="110000"/>
              </a:lnSpc>
            </a:pPr>
            <a:r>
              <a:rPr lang="en-US" sz="1700"/>
              <a:t>Dashboards for system health visualization</a:t>
            </a:r>
          </a:p>
          <a:p>
            <a:pPr>
              <a:lnSpc>
                <a:spcPct val="110000"/>
              </a:lnSpc>
            </a:pPr>
            <a:r>
              <a:rPr lang="en-US" sz="1700"/>
              <a:t>Metric aggregation from all Azure resources</a:t>
            </a:r>
          </a:p>
          <a:p>
            <a:pPr>
              <a:lnSpc>
                <a:spcPct val="110000"/>
              </a:lnSpc>
            </a:pPr>
            <a:r>
              <a:rPr lang="en-US" sz="1700"/>
              <a:t>Integration with Log Analytics for querying</a:t>
            </a:r>
          </a:p>
          <a:p>
            <a:pPr>
              <a:lnSpc>
                <a:spcPct val="110000"/>
              </a:lnSpc>
            </a:pPr>
            <a:r>
              <a:rPr lang="en-US" sz="1700"/>
              <a:t>Workbooks for advanced analytics and reporting</a:t>
            </a:r>
          </a:p>
          <a:p>
            <a:pPr>
              <a:lnSpc>
                <a:spcPct val="110000"/>
              </a:lnSpc>
            </a:pPr>
            <a:r>
              <a:rPr lang="en-US" sz="1700"/>
              <a:t>Auto-scaling triggers based on metrics</a:t>
            </a:r>
          </a:p>
          <a:p>
            <a:pPr>
              <a:lnSpc>
                <a:spcPct val="110000"/>
              </a:lnSpc>
            </a:pPr>
            <a:endParaRPr lang="en-US" sz="1700"/>
          </a:p>
        </p:txBody>
      </p:sp>
      <p:pic>
        <p:nvPicPr>
          <p:cNvPr id="5" name="Picture 4" descr="Blue blocks and networks technology background">
            <a:extLst>
              <a:ext uri="{FF2B5EF4-FFF2-40B4-BE49-F238E27FC236}">
                <a16:creationId xmlns:a16="http://schemas.microsoft.com/office/drawing/2014/main" id="{656543C0-42DA-AEBD-A875-9865750447BF}"/>
              </a:ext>
            </a:extLst>
          </p:cNvPr>
          <p:cNvPicPr>
            <a:picLocks noChangeAspect="1"/>
          </p:cNvPicPr>
          <p:nvPr/>
        </p:nvPicPr>
        <p:blipFill>
          <a:blip r:embed="rId2"/>
          <a:srcRect l="14670" r="45580" b="-446"/>
          <a:stretch>
            <a:fillRect/>
          </a:stretch>
        </p:blipFill>
        <p:spPr>
          <a:xfrm>
            <a:off x="7345680" y="10"/>
            <a:ext cx="4846320" cy="6857990"/>
          </a:xfrm>
          <a:prstGeom prst="rect">
            <a:avLst/>
          </a:prstGeom>
        </p:spPr>
      </p:pic>
    </p:spTree>
    <p:extLst>
      <p:ext uri="{BB962C8B-B14F-4D97-AF65-F5344CB8AC3E}">
        <p14:creationId xmlns:p14="http://schemas.microsoft.com/office/powerpoint/2010/main" val="704200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AFE212-78D7-5838-8342-2784430AD4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6FED35A-7169-0BC0-9A7C-32F97C3A833D}"/>
              </a:ext>
            </a:extLst>
          </p:cNvPr>
          <p:cNvSpPr>
            <a:spLocks noGrp="1"/>
          </p:cNvSpPr>
          <p:nvPr>
            <p:ph type="title"/>
          </p:nvPr>
        </p:nvSpPr>
        <p:spPr>
          <a:xfrm>
            <a:off x="614679" y="548639"/>
            <a:ext cx="3977640" cy="5719640"/>
          </a:xfrm>
        </p:spPr>
        <p:txBody>
          <a:bodyPr anchor="t">
            <a:normAutofit/>
          </a:bodyPr>
          <a:lstStyle/>
          <a:p>
            <a:r>
              <a:rPr lang="en-US" dirty="0"/>
              <a:t>What Cosmos DB/SQL does?</a:t>
            </a:r>
          </a:p>
        </p:txBody>
      </p:sp>
      <p:sp>
        <p:nvSpPr>
          <p:cNvPr id="3" name="Content Placeholder 2">
            <a:extLst>
              <a:ext uri="{FF2B5EF4-FFF2-40B4-BE49-F238E27FC236}">
                <a16:creationId xmlns:a16="http://schemas.microsoft.com/office/drawing/2014/main" id="{04C7DD48-AC5C-6B3B-E812-14B90144D7A7}"/>
              </a:ext>
            </a:extLst>
          </p:cNvPr>
          <p:cNvSpPr>
            <a:spLocks noGrp="1"/>
          </p:cNvSpPr>
          <p:nvPr>
            <p:ph idx="1"/>
          </p:nvPr>
        </p:nvSpPr>
        <p:spPr>
          <a:xfrm>
            <a:off x="5387542" y="548639"/>
            <a:ext cx="6189780" cy="5861304"/>
          </a:xfrm>
        </p:spPr>
        <p:txBody>
          <a:bodyPr anchor="t">
            <a:normAutofit/>
          </a:bodyPr>
          <a:lstStyle/>
          <a:p>
            <a:pPr>
              <a:lnSpc>
                <a:spcPct val="110000"/>
              </a:lnSpc>
            </a:pPr>
            <a:r>
              <a:rPr lang="en-US" sz="1400" b="1"/>
              <a:t>Cosmos DB / Azure SQL (Metadata + State)</a:t>
            </a:r>
            <a:r>
              <a:rPr lang="en-US" sz="1400"/>
              <a:t> acts as the </a:t>
            </a:r>
            <a:r>
              <a:rPr lang="en-US" sz="1400" b="1"/>
              <a:t>system memory and control ledger</a:t>
            </a:r>
            <a:r>
              <a:rPr lang="en-US" sz="1400"/>
              <a:t> for your AI platform.</a:t>
            </a:r>
          </a:p>
          <a:p>
            <a:pPr>
              <a:lnSpc>
                <a:spcPct val="110000"/>
              </a:lnSpc>
            </a:pPr>
            <a:r>
              <a:rPr lang="en-US" sz="1400"/>
              <a:t>What it stores:</a:t>
            </a:r>
          </a:p>
          <a:p>
            <a:pPr>
              <a:lnSpc>
                <a:spcPct val="110000"/>
              </a:lnSpc>
            </a:pPr>
            <a:r>
              <a:rPr lang="en-US" sz="1400" b="1"/>
              <a:t>Metadata</a:t>
            </a:r>
            <a:r>
              <a:rPr lang="en-US" sz="1400"/>
              <a:t>: document source, version, ingestion time, index location, access level</a:t>
            </a:r>
          </a:p>
          <a:p>
            <a:pPr>
              <a:lnSpc>
                <a:spcPct val="110000"/>
              </a:lnSpc>
            </a:pPr>
            <a:r>
              <a:rPr lang="en-US" sz="1400" b="1"/>
              <a:t>State</a:t>
            </a:r>
            <a:r>
              <a:rPr lang="en-US" sz="1400"/>
              <a:t>: conversation context, agent decisions, workflow status, request IDs</a:t>
            </a:r>
          </a:p>
          <a:p>
            <a:pPr>
              <a:lnSpc>
                <a:spcPct val="110000"/>
              </a:lnSpc>
            </a:pPr>
            <a:r>
              <a:rPr lang="en-US" sz="1400" b="1"/>
              <a:t>Audit info</a:t>
            </a:r>
            <a:r>
              <a:rPr lang="en-US" sz="1400"/>
              <a:t>: which agent accessed what data and when</a:t>
            </a:r>
          </a:p>
          <a:p>
            <a:pPr>
              <a:lnSpc>
                <a:spcPct val="110000"/>
              </a:lnSpc>
            </a:pPr>
            <a:r>
              <a:rPr lang="en-US" sz="1400"/>
              <a:t>Why it matters in your architecture:</a:t>
            </a:r>
          </a:p>
          <a:p>
            <a:pPr>
              <a:lnSpc>
                <a:spcPct val="110000"/>
              </a:lnSpc>
            </a:pPr>
            <a:r>
              <a:rPr lang="en-US" sz="1400"/>
              <a:t>Enables </a:t>
            </a:r>
            <a:r>
              <a:rPr lang="en-US" sz="1400" b="1"/>
              <a:t>traceability and reproducibility</a:t>
            </a:r>
            <a:endParaRPr lang="en-US" sz="1400"/>
          </a:p>
          <a:p>
            <a:pPr>
              <a:lnSpc>
                <a:spcPct val="110000"/>
              </a:lnSpc>
            </a:pPr>
            <a:r>
              <a:rPr lang="en-US" sz="1400"/>
              <a:t>Keeps agents </a:t>
            </a:r>
            <a:r>
              <a:rPr lang="en-US" sz="1400" b="1"/>
              <a:t>stateless and scalable</a:t>
            </a:r>
            <a:r>
              <a:rPr lang="en-US" sz="1400"/>
              <a:t> in AKS</a:t>
            </a:r>
          </a:p>
          <a:p>
            <a:pPr>
              <a:lnSpc>
                <a:spcPct val="110000"/>
              </a:lnSpc>
            </a:pPr>
            <a:r>
              <a:rPr lang="en-US" sz="1400"/>
              <a:t>Supports retries, rollbacks, and long-running workflows</a:t>
            </a:r>
          </a:p>
          <a:p>
            <a:pPr>
              <a:lnSpc>
                <a:spcPct val="110000"/>
              </a:lnSpc>
            </a:pPr>
            <a:r>
              <a:rPr lang="en-US" sz="1400"/>
              <a:t>Separates control data from raw knowledge content</a:t>
            </a:r>
          </a:p>
          <a:p>
            <a:pPr>
              <a:lnSpc>
                <a:spcPct val="110000"/>
              </a:lnSpc>
            </a:pPr>
            <a:r>
              <a:rPr lang="en-US" sz="1400"/>
              <a:t>One-liner you can reuse:</a:t>
            </a:r>
          </a:p>
          <a:p>
            <a:pPr>
              <a:lnSpc>
                <a:spcPct val="110000"/>
              </a:lnSpc>
            </a:pPr>
            <a:r>
              <a:rPr lang="en-US" sz="1400"/>
              <a:t>“Cosmos DB or Azure SQL stores metadata and execution state, providing durable memory, traceability, and workflow control for the AI system.”</a:t>
            </a:r>
          </a:p>
          <a:p>
            <a:pPr>
              <a:lnSpc>
                <a:spcPct val="110000"/>
              </a:lnSpc>
            </a:pPr>
            <a:endParaRPr lang="en-US" sz="1400"/>
          </a:p>
        </p:txBody>
      </p:sp>
    </p:spTree>
    <p:extLst>
      <p:ext uri="{BB962C8B-B14F-4D97-AF65-F5344CB8AC3E}">
        <p14:creationId xmlns:p14="http://schemas.microsoft.com/office/powerpoint/2010/main" val="2118193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247D5-BB9C-024F-04FB-64B2C1F2A5CE}"/>
              </a:ext>
            </a:extLst>
          </p:cNvPr>
          <p:cNvSpPr>
            <a:spLocks noGrp="1"/>
          </p:cNvSpPr>
          <p:nvPr>
            <p:ph type="title"/>
          </p:nvPr>
        </p:nvSpPr>
        <p:spPr>
          <a:xfrm>
            <a:off x="612647" y="212222"/>
            <a:ext cx="10653578" cy="672835"/>
          </a:xfrm>
        </p:spPr>
        <p:txBody>
          <a:bodyPr/>
          <a:lstStyle/>
          <a:p>
            <a:pPr algn="ctr"/>
            <a:r>
              <a:rPr lang="en-US" dirty="0"/>
              <a:t>Overall Process</a:t>
            </a:r>
          </a:p>
        </p:txBody>
      </p:sp>
      <p:sp>
        <p:nvSpPr>
          <p:cNvPr id="3" name="Content Placeholder 2">
            <a:extLst>
              <a:ext uri="{FF2B5EF4-FFF2-40B4-BE49-F238E27FC236}">
                <a16:creationId xmlns:a16="http://schemas.microsoft.com/office/drawing/2014/main" id="{CC2F8E8D-7B1B-AF3E-3965-E5D14EF61A3C}"/>
              </a:ext>
            </a:extLst>
          </p:cNvPr>
          <p:cNvSpPr>
            <a:spLocks noGrp="1"/>
          </p:cNvSpPr>
          <p:nvPr>
            <p:ph idx="1"/>
          </p:nvPr>
        </p:nvSpPr>
        <p:spPr>
          <a:xfrm>
            <a:off x="612647" y="805219"/>
            <a:ext cx="10653579" cy="5504142"/>
          </a:xfrm>
        </p:spPr>
        <p:txBody>
          <a:bodyPr>
            <a:normAutofit fontScale="40000" lnSpcReduction="20000"/>
          </a:bodyPr>
          <a:lstStyle/>
          <a:p>
            <a:r>
              <a:rPr lang="en-US" dirty="0"/>
              <a:t>From the moment a user submits a request, </a:t>
            </a:r>
            <a:r>
              <a:rPr lang="en-US" b="1" dirty="0"/>
              <a:t>Azure Front Door with WAF</a:t>
            </a:r>
            <a:r>
              <a:rPr lang="en-US" dirty="0"/>
              <a:t> is the global entry point. Front Door handles global routing and performance, while WAF blocks malicious or malformed requests before they ever touch your platform. Only clean, compliant traffic gets through.</a:t>
            </a:r>
          </a:p>
          <a:p>
            <a:r>
              <a:rPr lang="en-US" dirty="0"/>
              <a:t>That traffic flows into </a:t>
            </a:r>
            <a:r>
              <a:rPr lang="en-US" b="1" dirty="0"/>
              <a:t>Azure API Management</a:t>
            </a:r>
            <a:r>
              <a:rPr lang="en-US" dirty="0"/>
              <a:t>, which acts as the policy gatekeeper. APIM authenticates the caller, enforces rate limits and quotas, applies API policies, and exposes a stable contract to clients—so your backend can evolve without breaking consumers.</a:t>
            </a:r>
          </a:p>
          <a:p>
            <a:r>
              <a:rPr lang="en-US" dirty="0"/>
              <a:t>Next, the request enters </a:t>
            </a:r>
            <a:r>
              <a:rPr lang="en-US" b="1" dirty="0"/>
              <a:t>AKS Ingress</a:t>
            </a:r>
            <a:r>
              <a:rPr lang="en-US" dirty="0"/>
              <a:t>, which routes it inside the Kubernetes cluster to the correct service. From there, the </a:t>
            </a:r>
            <a:r>
              <a:rPr lang="en-US" b="1" dirty="0"/>
              <a:t>LLM Orchestrator Service</a:t>
            </a:r>
            <a:r>
              <a:rPr lang="en-US" dirty="0"/>
              <a:t> takes over. This is the brain of the system. It classifies intent, evaluates risk, decides which agents are needed, and enforces execution order—especially calling the Drug Safety Rules Agent before any generation when safety is involved.</a:t>
            </a:r>
          </a:p>
          <a:p>
            <a:r>
              <a:rPr lang="en-US" dirty="0"/>
              <a:t>Inside AKS, agents are modular and specialized:</a:t>
            </a:r>
          </a:p>
          <a:p>
            <a:r>
              <a:rPr lang="en-US" dirty="0"/>
              <a:t>The </a:t>
            </a:r>
            <a:r>
              <a:rPr lang="en-US" b="1" dirty="0"/>
              <a:t>Ontology Agent</a:t>
            </a:r>
            <a:r>
              <a:rPr lang="en-US" dirty="0"/>
              <a:t> retrieves terminology, acronyms, and chemical structures from its dedicated vector index.</a:t>
            </a:r>
          </a:p>
          <a:p>
            <a:r>
              <a:rPr lang="en-US" dirty="0"/>
              <a:t>The </a:t>
            </a:r>
            <a:r>
              <a:rPr lang="en-US" b="1" dirty="0"/>
              <a:t>Drug Safety Rules Agent</a:t>
            </a:r>
            <a:r>
              <a:rPr lang="en-US" dirty="0"/>
              <a:t> retrieves regulatory and compliance rules and returns policy constraints.</a:t>
            </a:r>
          </a:p>
          <a:p>
            <a:r>
              <a:rPr lang="en-US" dirty="0"/>
              <a:t>The </a:t>
            </a:r>
            <a:r>
              <a:rPr lang="en-US" b="1" dirty="0"/>
              <a:t>Knowledge Agent</a:t>
            </a:r>
            <a:r>
              <a:rPr lang="en-US" dirty="0"/>
              <a:t> retrieves enterprise-wide context across company knowledge.</a:t>
            </a:r>
          </a:p>
          <a:p>
            <a:r>
              <a:rPr lang="en-US" dirty="0"/>
              <a:t>All retrieval is powered by </a:t>
            </a:r>
            <a:r>
              <a:rPr lang="en-US" b="1" dirty="0"/>
              <a:t>Azure AI Search (Hybrid + Vector)</a:t>
            </a:r>
            <a:r>
              <a:rPr lang="en-US" dirty="0"/>
              <a:t>, which blends keyword precision with semantic vector similarity. This ensures the LLM is grounded in the right content, not guessing.</a:t>
            </a:r>
          </a:p>
          <a:p>
            <a:r>
              <a:rPr lang="en-US" dirty="0"/>
              <a:t>Once context is assembled and constraints are applied, the orchestrator calls </a:t>
            </a:r>
            <a:r>
              <a:rPr lang="en-US" b="1" dirty="0"/>
              <a:t>Azure OpenAI</a:t>
            </a:r>
            <a:r>
              <a:rPr lang="en-US" dirty="0"/>
              <a:t>, which generates responses securely inside your Azure tenant. No data leaves your boundary, and every generation is grounded, auditable, and compliant.</a:t>
            </a:r>
          </a:p>
          <a:p>
            <a:r>
              <a:rPr lang="en-US" dirty="0"/>
              <a:t>To keep performance tight and costs sane, </a:t>
            </a:r>
            <a:r>
              <a:rPr lang="en-US" b="1" dirty="0"/>
              <a:t>Azure Cache for Redis</a:t>
            </a:r>
            <a:r>
              <a:rPr lang="en-US" dirty="0"/>
              <a:t> stores short-lived state—conversation context, routing decisions, and repeated lookups—so agents don’t redo work unnecessarily. Longer-term state and metadata live in </a:t>
            </a:r>
            <a:r>
              <a:rPr lang="en-US" b="1" dirty="0"/>
              <a:t>Cosmos DB / Azure SQL</a:t>
            </a:r>
            <a:r>
              <a:rPr lang="en-US" dirty="0"/>
              <a:t>, giving you durable memory, traceability, and </a:t>
            </a:r>
            <a:r>
              <a:rPr lang="en-US" dirty="0" err="1"/>
              <a:t>replayability</a:t>
            </a:r>
            <a:r>
              <a:rPr lang="en-US" dirty="0"/>
              <a:t>.</a:t>
            </a:r>
          </a:p>
          <a:p>
            <a:r>
              <a:rPr lang="en-US" dirty="0"/>
              <a:t>On the data side, knowledge enters the system through the </a:t>
            </a:r>
            <a:r>
              <a:rPr lang="en-US" b="1" dirty="0"/>
              <a:t>Ingestion / ETL Plane</a:t>
            </a:r>
            <a:r>
              <a:rPr lang="en-US" dirty="0"/>
              <a:t>. Raw files land in </a:t>
            </a:r>
            <a:r>
              <a:rPr lang="en-US" b="1" dirty="0"/>
              <a:t>Blob Storage (Raw)</a:t>
            </a:r>
            <a:r>
              <a:rPr lang="en-US" dirty="0"/>
              <a:t>. </a:t>
            </a:r>
            <a:r>
              <a:rPr lang="en-US" b="1" dirty="0"/>
              <a:t>Event Grid</a:t>
            </a:r>
            <a:r>
              <a:rPr lang="en-US" dirty="0"/>
              <a:t> detects new data, </a:t>
            </a:r>
            <a:r>
              <a:rPr lang="en-US" b="1" dirty="0"/>
              <a:t>Azure Data Factory</a:t>
            </a:r>
            <a:r>
              <a:rPr lang="en-US" dirty="0"/>
              <a:t> orchestrates ingestion, </a:t>
            </a:r>
            <a:r>
              <a:rPr lang="en-US" b="1" dirty="0"/>
              <a:t>Azure Functions or Databricks</a:t>
            </a:r>
            <a:r>
              <a:rPr lang="en-US" dirty="0"/>
              <a:t> clean and chunk content, and </a:t>
            </a:r>
            <a:r>
              <a:rPr lang="en-US" b="1" dirty="0"/>
              <a:t>Azure OpenAI embeddings</a:t>
            </a:r>
            <a:r>
              <a:rPr lang="en-US" dirty="0"/>
              <a:t> convert it into vectors stored in Azure AI Search. Processed artifacts land in </a:t>
            </a:r>
            <a:r>
              <a:rPr lang="en-US" b="1" dirty="0"/>
              <a:t>Blob Storage (Processed)</a:t>
            </a:r>
            <a:r>
              <a:rPr lang="en-US" dirty="0"/>
              <a:t> with full lineage.</a:t>
            </a:r>
          </a:p>
          <a:p>
            <a:r>
              <a:rPr lang="en-US" dirty="0"/>
              <a:t>Across everything, the </a:t>
            </a:r>
            <a:r>
              <a:rPr lang="en-US" b="1" dirty="0"/>
              <a:t>Observability + Security Plane</a:t>
            </a:r>
            <a:r>
              <a:rPr lang="en-US" dirty="0"/>
              <a:t> keeps you safe and sane:</a:t>
            </a:r>
          </a:p>
          <a:p>
            <a:r>
              <a:rPr lang="en-US" b="1" dirty="0"/>
              <a:t>Key Vault</a:t>
            </a:r>
            <a:r>
              <a:rPr lang="en-US" dirty="0"/>
              <a:t> secures secrets and credentials</a:t>
            </a:r>
          </a:p>
          <a:p>
            <a:r>
              <a:rPr lang="en-US" b="1" dirty="0"/>
              <a:t>App Insights + </a:t>
            </a:r>
            <a:r>
              <a:rPr lang="en-US" b="1" dirty="0" err="1"/>
              <a:t>OpenTelemetry</a:t>
            </a:r>
            <a:r>
              <a:rPr lang="en-US" dirty="0"/>
              <a:t> trace requests end to end</a:t>
            </a:r>
          </a:p>
          <a:p>
            <a:r>
              <a:rPr lang="en-US" b="1" dirty="0"/>
              <a:t>Log Analytics Workspace</a:t>
            </a:r>
            <a:r>
              <a:rPr lang="en-US" dirty="0"/>
              <a:t> centralizes logs and metrics</a:t>
            </a:r>
          </a:p>
          <a:p>
            <a:r>
              <a:rPr lang="en-US" b="1" dirty="0"/>
              <a:t>Microsoft Purview</a:t>
            </a:r>
            <a:r>
              <a:rPr lang="en-US" dirty="0"/>
              <a:t> governs data in Blob Storage, tracking lineage, sensitivity, and compliance</a:t>
            </a:r>
          </a:p>
          <a:p>
            <a:endParaRPr lang="en-US" dirty="0"/>
          </a:p>
        </p:txBody>
      </p:sp>
    </p:spTree>
    <p:extLst>
      <p:ext uri="{BB962C8B-B14F-4D97-AF65-F5344CB8AC3E}">
        <p14:creationId xmlns:p14="http://schemas.microsoft.com/office/powerpoint/2010/main" val="1522158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3A89E9-C824-2CF5-5DA4-DB3274AE565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0" name="Picture 9" descr="Close-up of hopscotch on a sidewalk">
            <a:extLst>
              <a:ext uri="{FF2B5EF4-FFF2-40B4-BE49-F238E27FC236}">
                <a16:creationId xmlns:a16="http://schemas.microsoft.com/office/drawing/2014/main" id="{010E492D-562D-B455-CDBC-981CB7ABA67F}"/>
              </a:ext>
            </a:extLst>
          </p:cNvPr>
          <p:cNvPicPr>
            <a:picLocks noChangeAspect="1"/>
          </p:cNvPicPr>
          <p:nvPr/>
        </p:nvPicPr>
        <p:blipFill>
          <a:blip r:embed="rId2"/>
          <a:srcRect t="7097" b="8634"/>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A66DF93-6F36-73AC-6090-D56BA0D32D75}"/>
              </a:ext>
            </a:extLst>
          </p:cNvPr>
          <p:cNvSpPr>
            <a:spLocks noGrp="1"/>
          </p:cNvSpPr>
          <p:nvPr>
            <p:ph type="title"/>
          </p:nvPr>
        </p:nvSpPr>
        <p:spPr>
          <a:xfrm>
            <a:off x="286506" y="603315"/>
            <a:ext cx="5649211" cy="3685731"/>
          </a:xfrm>
        </p:spPr>
        <p:txBody>
          <a:bodyPr vert="horz" lIns="91440" tIns="45720" rIns="91440" bIns="45720" rtlCol="0" anchor="t">
            <a:normAutofit/>
          </a:bodyPr>
          <a:lstStyle/>
          <a:p>
            <a:r>
              <a:rPr lang="en-US" sz="6600"/>
              <a:t>The End</a:t>
            </a:r>
          </a:p>
        </p:txBody>
      </p:sp>
    </p:spTree>
    <p:extLst>
      <p:ext uri="{BB962C8B-B14F-4D97-AF65-F5344CB8AC3E}">
        <p14:creationId xmlns:p14="http://schemas.microsoft.com/office/powerpoint/2010/main" val="35662585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103</TotalTime>
  <Words>2366</Words>
  <Application>Microsoft Office PowerPoint</Application>
  <PresentationFormat>Widescreen</PresentationFormat>
  <Paragraphs>211</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Neue Haas Grotesk Text Pro</vt:lpstr>
      <vt:lpstr>VanillaVTI</vt:lpstr>
      <vt:lpstr>Multi-Agent Architecture Johnson &amp; Johnson </vt:lpstr>
      <vt:lpstr>PowerPoint Presentation</vt:lpstr>
      <vt:lpstr>Azure Front Door + WAF</vt:lpstr>
      <vt:lpstr>Azure API Management</vt:lpstr>
      <vt:lpstr>AKS Ingress</vt:lpstr>
      <vt:lpstr>Azure Kubernetes Service</vt:lpstr>
      <vt:lpstr>LLM Orchestrator Service</vt:lpstr>
      <vt:lpstr>Azure Cache for Redis</vt:lpstr>
      <vt:lpstr>Azure Open AI</vt:lpstr>
      <vt:lpstr>Azure AI Search (Hybrid + Vector)</vt:lpstr>
      <vt:lpstr>How the Ingestion / ETL Plane works (step by step)</vt:lpstr>
      <vt:lpstr>How the Observability + Security Plane Works</vt:lpstr>
      <vt:lpstr>Key Vault</vt:lpstr>
      <vt:lpstr>Entra ID (formerly Azure Active Directory)</vt:lpstr>
      <vt:lpstr>Microsoft Purview</vt:lpstr>
      <vt:lpstr>App Insights + OpenTelemetry</vt:lpstr>
      <vt:lpstr>Azure Monitor</vt:lpstr>
      <vt:lpstr>What Cosmos DB/SQL does?</vt:lpstr>
      <vt:lpstr>Overall Process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Oswald Durand</dc:creator>
  <cp:lastModifiedBy>Oswald Durand</cp:lastModifiedBy>
  <cp:revision>1</cp:revision>
  <dcterms:created xsi:type="dcterms:W3CDTF">2026-01-23T12:18:10Z</dcterms:created>
  <dcterms:modified xsi:type="dcterms:W3CDTF">2026-05-19T00:48:00Z</dcterms:modified>
</cp:coreProperties>
</file>